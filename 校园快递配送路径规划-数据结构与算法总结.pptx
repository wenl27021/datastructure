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3e0b39e9724bc1" /><Relationship Type="http://schemas.openxmlformats.org/officeDocument/2006/relationships/extended-properties" Target="/docProps/app.xml" Id="Re56191677dab4d32" /><Relationship Type="http://schemas.openxmlformats.org/officeDocument/2006/relationships/officeDocument" Target="/ppt/presentation.xml" Id="Rc360193be8d54f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75fbdddcda42a5"/>
  </p:sldMasterIdLst>
  <p:notesMasterIdLst>
    <p:notesMasterId xmlns:r="http://schemas.openxmlformats.org/officeDocument/2006/relationships" r:id="R7619b483ade8437a"/>
  </p:notesMasterIdLst>
  <p:sldIdLst>
    <p:sldId xmlns:r="http://schemas.openxmlformats.org/officeDocument/2006/relationships" id="256" r:id="Rc86880eb7bb34c34"/>
    <p:sldId xmlns:r="http://schemas.openxmlformats.org/officeDocument/2006/relationships" id="257" r:id="R7edcd5207fee4e00"/>
    <p:sldId xmlns:r="http://schemas.openxmlformats.org/officeDocument/2006/relationships" id="258" r:id="Rbea3d43e2cb54176"/>
    <p:sldId xmlns:r="http://schemas.openxmlformats.org/officeDocument/2006/relationships" id="259" r:id="R650781710d434c8f"/>
    <p:sldId xmlns:r="http://schemas.openxmlformats.org/officeDocument/2006/relationships" id="260" r:id="R7336404295c746c9"/>
    <p:sldId xmlns:r="http://schemas.openxmlformats.org/officeDocument/2006/relationships" id="261" r:id="R27dab1af177a4051"/>
    <p:sldId xmlns:r="http://schemas.openxmlformats.org/officeDocument/2006/relationships" id="262" r:id="R0e563cee0e1441cd"/>
    <p:sldId xmlns:r="http://schemas.openxmlformats.org/officeDocument/2006/relationships" id="263" r:id="R4da2cb9c7a60495e"/>
    <p:sldId xmlns:r="http://schemas.openxmlformats.org/officeDocument/2006/relationships" id="264" r:id="Rbee3c1c09386402a"/>
    <p:sldId xmlns:r="http://schemas.openxmlformats.org/officeDocument/2006/relationships" id="265" r:id="R5ae7296268b24ee1"/>
    <p:sldId xmlns:r="http://schemas.openxmlformats.org/officeDocument/2006/relationships" id="266" r:id="Rf618af354def4ab1"/>
    <p:sldId xmlns:r="http://schemas.openxmlformats.org/officeDocument/2006/relationships" id="267" r:id="R31072c76099547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5fbdddcda42a5" /><Relationship Type="http://schemas.openxmlformats.org/officeDocument/2006/relationships/theme" Target="/ppt/theme/theme1.xml" Id="R2604668c071145da" /><Relationship Type="http://schemas.openxmlformats.org/officeDocument/2006/relationships/notesMaster" Target="/ppt/notesMasters/notesMaster1.xml" Id="R7619b483ade8437a" /><Relationship Type="http://schemas.openxmlformats.org/officeDocument/2006/relationships/presProps" Target="/ppt/presProps.xml" Id="Ra870e431fab4485e" /><Relationship Type="http://schemas.openxmlformats.org/officeDocument/2006/relationships/viewProps" Target="/ppt/viewProps.xml" Id="R3b4adba53cf94fba" /><Relationship Type="http://schemas.openxmlformats.org/officeDocument/2006/relationships/tableStyles" Target="/ppt/tableStyles.xml" Id="Rdaef5ef6120842e7" /><Relationship Type="http://schemas.openxmlformats.org/officeDocument/2006/relationships/slide" Target="/ppt/slides/slide1.xml" Id="Rc86880eb7bb34c34" /><Relationship Type="http://schemas.openxmlformats.org/officeDocument/2006/relationships/slide" Target="/ppt/slides/slide2.xml" Id="R7edcd5207fee4e00" /><Relationship Type="http://schemas.openxmlformats.org/officeDocument/2006/relationships/slide" Target="/ppt/slides/slide3.xml" Id="Rbea3d43e2cb54176" /><Relationship Type="http://schemas.openxmlformats.org/officeDocument/2006/relationships/slide" Target="/ppt/slides/slide4.xml" Id="R650781710d434c8f" /><Relationship Type="http://schemas.openxmlformats.org/officeDocument/2006/relationships/slide" Target="/ppt/slides/slide5.xml" Id="R7336404295c746c9" /><Relationship Type="http://schemas.openxmlformats.org/officeDocument/2006/relationships/slide" Target="/ppt/slides/slide6.xml" Id="R27dab1af177a4051" /><Relationship Type="http://schemas.openxmlformats.org/officeDocument/2006/relationships/slide" Target="/ppt/slides/slide7.xml" Id="R0e563cee0e1441cd" /><Relationship Type="http://schemas.openxmlformats.org/officeDocument/2006/relationships/slide" Target="/ppt/slides/slide8.xml" Id="R4da2cb9c7a60495e" /><Relationship Type="http://schemas.openxmlformats.org/officeDocument/2006/relationships/slide" Target="/ppt/slides/slide9.xml" Id="Rbee3c1c09386402a" /><Relationship Type="http://schemas.openxmlformats.org/officeDocument/2006/relationships/slide" Target="/ppt/slides/slide10.xml" Id="R5ae7296268b24ee1" /><Relationship Type="http://schemas.openxmlformats.org/officeDocument/2006/relationships/slide" Target="/ppt/slides/slide11.xml" Id="Rf618af354def4ab1" /><Relationship Type="http://schemas.openxmlformats.org/officeDocument/2006/relationships/slide" Target="/ppt/slides/slide12.xml" Id="R31072c76099547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2ea4e28a4ca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d579dea8544fd2" /><Relationship Type="http://schemas.openxmlformats.org/officeDocument/2006/relationships/notesMaster" Target="/ppt/notesMasters/notesMaster1.xml" Id="R730985a21ee144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908a8f82264194" /><Relationship Type="http://schemas.openxmlformats.org/officeDocument/2006/relationships/notesMaster" Target="/ppt/notesMasters/notesMaster1.xml" Id="R0435942b903d45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8c2450b4774276" /><Relationship Type="http://schemas.openxmlformats.org/officeDocument/2006/relationships/notesMaster" Target="/ppt/notesMasters/notesMaster1.xml" Id="R556a2b9ae29b4d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46fef75a1a4cea" /><Relationship Type="http://schemas.openxmlformats.org/officeDocument/2006/relationships/notesMaster" Target="/ppt/notesMasters/notesMaster1.xml" Id="Rd23da1d1ad4e44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9633cf0c444318" /><Relationship Type="http://schemas.openxmlformats.org/officeDocument/2006/relationships/notesMaster" Target="/ppt/notesMasters/notesMaster1.xml" Id="R1c03d6852e0c4d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4581fe67ba465f" /><Relationship Type="http://schemas.openxmlformats.org/officeDocument/2006/relationships/notesMaster" Target="/ppt/notesMasters/notesMaster1.xml" Id="R3b65e183ca004b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5984be328b477c" /><Relationship Type="http://schemas.openxmlformats.org/officeDocument/2006/relationships/notesMaster" Target="/ppt/notesMasters/notesMaster1.xml" Id="R852942ea55e743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38af6584aa45f3" /><Relationship Type="http://schemas.openxmlformats.org/officeDocument/2006/relationships/notesMaster" Target="/ppt/notesMasters/notesMaster1.xml" Id="R6752916719a347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179317fa854f39" /><Relationship Type="http://schemas.openxmlformats.org/officeDocument/2006/relationships/notesMaster" Target="/ppt/notesMasters/notesMaster1.xml" Id="R57c1e72fce3e4e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ae316164314bc7" /><Relationship Type="http://schemas.openxmlformats.org/officeDocument/2006/relationships/notesMaster" Target="/ppt/notesMasters/notesMaster1.xml" Id="R46a5bf06f17f4c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9465a8e1a14cc9" /><Relationship Type="http://schemas.openxmlformats.org/officeDocument/2006/relationships/notesMaster" Target="/ppt/notesMasters/notesMaster1.xml" Id="R65691c41167b43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34dfb976654cbb" /><Relationship Type="http://schemas.openxmlformats.org/officeDocument/2006/relationships/notesMaster" Target="/ppt/notesMasters/notesMaster1.xml" Id="Rf662a8e2de6f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2d5d4bfa3412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0c580dc4c4e4bd0" /><Relationship Type="http://schemas.openxmlformats.org/officeDocument/2006/relationships/slideLayout" Target="/ppt/slideLayouts/slideLayout2.xml" Id="R3a10ab7cbac24d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10ab7cbac24d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b8cfc3219946c1" /><Relationship Type="http://schemas.openxmlformats.org/officeDocument/2006/relationships/notesSlide" Target="/ppt/notesSlides/notesSlide1.xml" Id="R5c868ae1592f41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c23992cfef4f35" /><Relationship Type="http://schemas.openxmlformats.org/officeDocument/2006/relationships/notesSlide" Target="/ppt/notesSlides/notesSlide2.xml" Id="R0be1bd9dbede41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61e247258040ed" /><Relationship Type="http://schemas.openxmlformats.org/officeDocument/2006/relationships/notesSlide" Target="/ppt/notesSlides/notesSlide3.xml" Id="R3b82889b238c48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3d3be01d2845d4" /><Relationship Type="http://schemas.openxmlformats.org/officeDocument/2006/relationships/notesSlide" Target="/ppt/notesSlides/notesSlide4.xml" Id="R46cef9e55d5c4b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94b05fe48e4121" /><Relationship Type="http://schemas.openxmlformats.org/officeDocument/2006/relationships/notesSlide" Target="/ppt/notesSlides/notesSlide5.xml" Id="R109d23b3382c47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9bd3fe9e0b4aa1" /><Relationship Type="http://schemas.openxmlformats.org/officeDocument/2006/relationships/notesSlide" Target="/ppt/notesSlides/notesSlide6.xml" Id="R834927405a2e4e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10d321800e42b4" /><Relationship Type="http://schemas.openxmlformats.org/officeDocument/2006/relationships/notesSlide" Target="/ppt/notesSlides/notesSlide7.xml" Id="R12d7eb73522a4b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1bd1b39cfa4f01" /><Relationship Type="http://schemas.openxmlformats.org/officeDocument/2006/relationships/notesSlide" Target="/ppt/notesSlides/notesSlide8.xml" Id="R153ec19ffb3e4a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4f16d29c994bde" /><Relationship Type="http://schemas.openxmlformats.org/officeDocument/2006/relationships/notesSlide" Target="/ppt/notesSlides/notesSlide9.xml" Id="Rc14c43e429ea44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f9626821544eeb" /><Relationship Type="http://schemas.openxmlformats.org/officeDocument/2006/relationships/notesSlide" Target="/ppt/notesSlides/notesSlide10.xml" Id="R3bb2d6ce8d484c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b856fa9a634c8c" /><Relationship Type="http://schemas.openxmlformats.org/officeDocument/2006/relationships/notesSlide" Target="/ppt/notesSlides/notesSlide11.xml" Id="Rccd6de873d3144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003cf479cb4dd6" /><Relationship Type="http://schemas.openxmlformats.org/officeDocument/2006/relationships/notesSlide" Target="/ppt/notesSlides/notesSlide12.xml" Id="R165eba918a754b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EA53A3-46FE-4772-B03E-AA4895C2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F4366-0C75-4FED-B5CB-42B5D462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67E1B-BC71-4BDC-8FAE-F7005CFF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课程设计总结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2F739-60D9-4FB9-A65C-B0012E29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校园快递配送路径规划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89CF5-D9F6-43F6-BBB8-6FE7428C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数据结构先行，算法随后展开：从图存储到路径搜索与动态重规划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5FE40-2B8F-4F45-B51A-42144118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10B11-1848-40E9-AE74-24C1C6C1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1285875" cy="2571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E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5F526-F9AA-4197-98A4-25608C10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3843338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38BF7-9DFA-4B0F-8E52-377FB33E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086225"/>
            <a:ext cx="904875" cy="857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EC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AAB45-6099-4D03-B64A-251F97AE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13" y="44005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C4644-F795-49DE-B04B-F1A3B096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-495300" cy="1238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EC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AEE94-3608-4F6D-A617-9F529AD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3387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CF9B6-019D-4158-98FC-BE84A5C1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67300"/>
            <a:ext cx="1447800" cy="4476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EC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E320B-4ED3-4164-A87D-5F357936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76838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950F4-8607-4F29-8A22-91E5AC52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14975"/>
            <a:ext cx="1238250" cy="-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EC5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9A56D-F109-4650-9F9A-A72E284D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1149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27D71-085D-4350-B697-FE3E2F40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8"/>
          </a:solidFill>
          <a:ln xmlns:a="http://schemas.openxmlformats.org/drawingml/2006/main" w="28575">
            <a:solidFill>
              <a:srgbClr val="FB9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5AF01-53D0-4365-8B7C-C16E6AF1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12118-9E96-484C-A925-F437EFBA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Express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3A7C3-1819-4932-95AB-2C3F3CDF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28575">
            <a:solidFill>
              <a:srgbClr val="FB9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BF11E-B99C-457D-BEB6-B1F204D3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528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A2689-FCFC-4A2B-848D-903AAE15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529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Dorm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FF4EA-7486-46A4-ADEC-DD2519D8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14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28575">
            <a:solidFill>
              <a:srgbClr val="FB92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E3F93-8D5F-4FF2-BEBD-54090EE1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01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31B09C-FD93-4593-8C47-E01C3A5F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1017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Dorm 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FBEEB-D694-4838-99FC-5FEADCD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86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28575">
            <a:solidFill>
              <a:srgbClr val="FB92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BF0627-4F39-48D9-8E02-0AB2B972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816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70CB06-E80E-465A-A71A-0AAB8635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8167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Library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800548-BD3F-4880-B0B6-5ED1AFF2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28575">
            <a:solidFill>
              <a:srgbClr val="FB92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CBC839-D618-4EF7-8063-C94255BC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339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347106-660D-45B5-BB7D-4984D1A5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340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E0417C-BFB3-4BC3-B7F7-82F9AB63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这份 PPT 对应源码：校园快递配送路径规划.c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88E242-A8EB-4C11-800F-CF237710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390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3DE88D-4366-4B26-9741-A5A1A41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278ACB-8601-4569-816C-A96C5DCC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336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820E17-7290-4334-9C36-F7D1CA51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390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7FF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531357-0585-48C4-AC87-980FC574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2412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图构建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168DEB-081F-40EA-B199-AB55D699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8BAFB6-C110-4DB4-A4B9-8354E138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81250"/>
            <a:ext cx="1390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8E8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8DB7A9-CDD9-4172-9328-C70EEC1D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2412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连通性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30EC24-2406-4E10-97CE-71DE6811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336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371FC8-7E5D-4939-BE00-A4405479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81250"/>
            <a:ext cx="1390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DCDD02-7553-487F-9E43-0003FB78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2412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DFS 路径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ED59D8-CA58-4510-96D3-D24EFDD7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CA6747-B9C2-4EF9-B0BB-E2AB60A6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390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D8A8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10DDE6-A056-4AB5-B236-D497F93E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2412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BFS / A*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8774F0-1E05-4CA9-B0DA-BC6A4BB2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336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903AA9-A5A2-4CF6-B1DF-BE7C3CA1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1390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DDFF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6EA776-8DDD-4FE1-B044-14D656AC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路况变化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3CCEA3-A433-451D-8205-D77C042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524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8380EA-212F-436B-A058-E96AF5E5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讲解顺序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AC0D32-548A-4236-97D7-E7CF607C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0E546C-B13E-48D6-AF3D-FBDB7E23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4610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先说明程序用什么结构保存校园地图、路径和 UI 状态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C017AE-9A5A-445D-8BFE-8787B588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44D22C-83F0-4291-86D9-1F3DD4FF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4610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再说明 DFS、BFS、A* 如何基于这些结构完成配送路线规划</a:t>
            </a:r>
          </a:p>
        </p:txBody>
      </p:sp>
    </p:spTree>
    <p:extLst>
      <p:ext uri="{BB962C8B-B14F-4D97-AF65-F5344CB8AC3E}">
        <p14:creationId xmlns:p14="http://schemas.microsoft.com/office/powerpoint/2010/main" val="1918305514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B73E38C-6CE6-4978-8EBE-30C813EB65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888D9E2-23DF-4B96-95C2-A6BF00423C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3B82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5C4D2B7F-7472-4FD3-A2D0-0AC645498DEA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第一部分：数据结构</a:t>
            </a:r>
          </a:p>
        </p:txBody>
      </p:sp>
      <p:sp>
        <p:nvSpPr>
          <p:cNvPr id="4" name="">
            <a:extLst>
              <a:ext uri="{FF2B5EF4-FFF2-40B4-BE49-F238E27FC236}">
                <ns2:creationId id="{A9385EF2-EFA3-4156-ABB6-75C72309C750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933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核心图结构 CampusGraph</a:t>
            </a:r>
          </a:p>
        </p:txBody>
      </p:sp>
      <p:sp>
        <p:nvSpPr>
          <p:cNvPr id="5" name="">
            <a:extLst>
              <a:ext uri="{FF2B5EF4-FFF2-40B4-BE49-F238E27FC236}">
                <ns2:creationId id="{95B7AF2A-61FC-4B11-8D80-3802DF1E0AB9}"/>
              </a:ext>
            </a:extLst>
          </p:cNvPr>
          <p:cNvSpPr>
            <a:spLocks noGrp="1"/>
          </p:cNvSpPr>
          <p:nvPr/>
        </p:nvSpPr>
        <p:spPr>
          <a:xfrm>
            <a:off x="476250" y="10477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校园楼栋是结点，道路是带权边，邻接矩阵负责保存通行距离</a:t>
            </a:r>
          </a:p>
        </p:txBody>
      </p:sp>
      <p:sp>
        <p:nvSpPr>
          <p:cNvPr id="6" name="">
            <a:extLst>
              <a:ext uri="{FF2B5EF4-FFF2-40B4-BE49-F238E27FC236}">
                <ns2:creationId id="{22058C75-50BE-4BB8-B44B-C5B783526BEA}"/>
              </a:ext>
            </a:extLst>
          </p:cNvPr>
          <p:cNvSpPr>
            <a:spLocks noGrp="1"/>
          </p:cNvSpPr>
          <p:nvPr/>
        </p:nvSpPr>
        <p:spPr>
          <a:xfrm>
            <a:off x="11049000" y="30480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>
              <a:ext uri="{FF2B5EF4-FFF2-40B4-BE49-F238E27FC236}">
                <ns2:creationId id="{9C4D6094-19E2-48F2-B127-4377A86FC12F}"/>
              </a:ext>
            </a:extLst>
          </p:cNvPr>
          <p:cNvSpPr>
            <a:spLocks noGrp="1"/>
          </p:cNvSpPr>
          <p:nvPr/>
        </p:nvSpPr>
        <p:spPr>
          <a:xfrm>
            <a:off x="590550" y="1714500"/>
            <a:ext cx="5429250" cy="1885950"/>
          </a:xfrm>
          <a:prstGeom prst="roundRect">
            <a:avLst>
              <a:gd name="adj" fmla="val 4040"/>
            </a:avLst>
          </a:prstGeom>
          <a:solidFill>
            <a:srgbClr val="111827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A2E5E08-77B7-4C64-AE36-92D4F3C1F4D3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5086350" cy="1600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12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typedef struct CampusGraph {</a:t>
            </a:r>
            <a:endParaRPr lang="en-US" sz="1250"/>
          </a:p>
          <a:p>
            <a:r>
              <a:rPr sz="12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nodeCount;</a:t>
            </a:r>
            <a:endParaRPr lang="en-US" sz="1250"/>
          </a:p>
          <a:p>
            <a:r>
              <a:rPr sz="12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char names[MAX_NODES][40];</a:t>
            </a:r>
            <a:endParaRPr lang="en-US" sz="1250"/>
          </a:p>
          <a:p>
            <a:r>
              <a:rPr sz="12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posX[MAX_NODES];</a:t>
            </a:r>
            <a:endParaRPr lang="en-US" sz="1250"/>
          </a:p>
          <a:p>
            <a:r>
              <a:rPr sz="12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posY[MAX_NODES];</a:t>
            </a:r>
            <a:endParaRPr lang="en-US" sz="1250"/>
          </a:p>
          <a:p>
            <a:r>
              <a:rPr sz="12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matrix[MAX_NODES][MAX_NODES];</a:t>
            </a:r>
            <a:endParaRPr lang="en-US" sz="1250"/>
          </a:p>
          <a:p>
            <a:r>
              <a:rPr sz="12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 CampusGraph;</a:t>
            </a:r>
            <a:endParaRPr lang="en-US" sz="1250"/>
          </a:p>
        </p:txBody>
      </p:sp>
      <p:sp>
        <p:nvSpPr>
          <p:cNvPr id="9" name="">
            <a:extLst>
              <a:ext uri="{FF2B5EF4-FFF2-40B4-BE49-F238E27FC236}">
                <ns2:creationId id="{2EF1BBDF-4480-47D7-994A-BAC763AC5090}"/>
              </a:ext>
            </a:extLst>
          </p:cNvPr>
          <p:cNvSpPr>
            <a:spLocks noGrp="1"/>
          </p:cNvSpPr>
          <p:nvPr/>
        </p:nvSpPr>
        <p:spPr>
          <a:xfrm>
            <a:off x="6553200" y="1657350"/>
            <a:ext cx="44767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51D6728C-6724-496F-BE98-8BA7EEAAACEE}"/>
              </a:ext>
            </a:extLst>
          </p:cNvPr>
          <p:cNvSpPr>
            <a:spLocks noGrp="1"/>
          </p:cNvSpPr>
          <p:nvPr/>
        </p:nvSpPr>
        <p:spPr>
          <a:xfrm>
            <a:off x="6819900" y="1905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邻接矩阵含义</a:t>
            </a:r>
          </a:p>
        </p:txBody>
      </p:sp>
      <p:sp>
        <p:nvSpPr>
          <p:cNvPr id="11" name="">
            <a:extLst>
              <a:ext uri="{FF2B5EF4-FFF2-40B4-BE49-F238E27FC236}">
                <ns2:creationId id="{5265B70B-296E-4374-AFA3-B5918279DD8E}"/>
              </a:ext>
            </a:extLst>
          </p:cNvPr>
          <p:cNvSpPr>
            <a:spLocks noGrp="1"/>
          </p:cNvSpPr>
          <p:nvPr/>
        </p:nvSpPr>
        <p:spPr>
          <a:xfrm>
            <a:off x="6858000" y="2476500"/>
            <a:ext cx="114300" cy="1143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8931B18E-1209-4DDC-BF60-73E1EA71E4A8}"/>
              </a:ext>
            </a:extLst>
          </p:cNvPr>
          <p:cNvSpPr>
            <a:spLocks noGrp="1"/>
          </p:cNvSpPr>
          <p:nvPr/>
        </p:nvSpPr>
        <p:spPr>
          <a:xfrm>
            <a:off x="7105650" y="2381250"/>
            <a:ext cx="3467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matrix[i][j] &gt; 0：i 与 j 之间存在道路</a:t>
            </a:r>
          </a:p>
        </p:txBody>
      </p:sp>
      <p:sp>
        <p:nvSpPr>
          <p:cNvPr id="13" name="">
            <a:extLst>
              <a:ext uri="{FF2B5EF4-FFF2-40B4-BE49-F238E27FC236}">
                <ns2:creationId id="{D823AE40-21DF-49CC-A1AA-494C6C5CBF26}"/>
              </a:ext>
            </a:extLst>
          </p:cNvPr>
          <p:cNvSpPr>
            <a:spLocks noGrp="1"/>
          </p:cNvSpPr>
          <p:nvPr/>
        </p:nvSpPr>
        <p:spPr>
          <a:xfrm>
            <a:off x="6858000" y="2857500"/>
            <a:ext cx="114300" cy="1143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5B45ABDE-AB43-4BB2-91D6-469256BC513A}"/>
              </a:ext>
            </a:extLst>
          </p:cNvPr>
          <p:cNvSpPr>
            <a:spLocks noGrp="1"/>
          </p:cNvSpPr>
          <p:nvPr/>
        </p:nvSpPr>
        <p:spPr>
          <a:xfrm>
            <a:off x="7105650" y="2762250"/>
            <a:ext cx="3467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matrix[i][j] = 0：自身或暂不作为可通边</a:t>
            </a:r>
          </a:p>
        </p:txBody>
      </p:sp>
      <p:sp>
        <p:nvSpPr>
          <p:cNvPr id="15" name="">
            <a:extLst>
              <a:ext uri="{FF2B5EF4-FFF2-40B4-BE49-F238E27FC236}">
                <ns2:creationId id="{94C1B0FC-1235-40E7-8DD1-467B6865C0F0}"/>
              </a:ext>
            </a:extLst>
          </p:cNvPr>
          <p:cNvSpPr>
            <a:spLocks noGrp="1"/>
          </p:cNvSpPr>
          <p:nvPr/>
        </p:nvSpPr>
        <p:spPr>
          <a:xfrm>
            <a:off x="6858000" y="3238500"/>
            <a:ext cx="114300" cy="1143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81AE1EED-3F1F-4A6F-823F-8A482BA3D43B}"/>
              </a:ext>
            </a:extLst>
          </p:cNvPr>
          <p:cNvSpPr>
            <a:spLocks noGrp="1"/>
          </p:cNvSpPr>
          <p:nvPr/>
        </p:nvSpPr>
        <p:spPr>
          <a:xfrm>
            <a:off x="7105650" y="3143250"/>
            <a:ext cx="3467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INF / 99999：没有直接道路</a:t>
            </a:r>
          </a:p>
        </p:txBody>
      </p:sp>
      <p:sp>
        <p:nvSpPr>
          <p:cNvPr id="17" name="">
            <a:extLst>
              <a:ext uri="{FF2B5EF4-FFF2-40B4-BE49-F238E27FC236}">
                <ns2:creationId id="{99DA067A-C8AE-4C57-8CCD-2B8D12B3D905}"/>
              </a:ext>
            </a:extLst>
          </p:cNvPr>
          <p:cNvSpPr>
            <a:spLocks noGrp="1"/>
          </p:cNvSpPr>
          <p:nvPr/>
        </p:nvSpPr>
        <p:spPr>
          <a:xfrm>
            <a:off x="6858000" y="3619500"/>
            <a:ext cx="114300" cy="1143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7ADC1A29-C2EE-4101-A2E1-1D09BE32FE80}"/>
              </a:ext>
            </a:extLst>
          </p:cNvPr>
          <p:cNvSpPr>
            <a:spLocks noGrp="1"/>
          </p:cNvSpPr>
          <p:nvPr/>
        </p:nvSpPr>
        <p:spPr>
          <a:xfrm>
            <a:off x="7105650" y="3524250"/>
            <a:ext cx="3467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ROAD_BLOCK / 9999：道路施工或极高代价</a:t>
            </a:r>
          </a:p>
        </p:txBody>
      </p:sp>
      <p:sp>
        <p:nvSpPr>
          <p:cNvPr id="19" name="">
            <a:extLst>
              <a:ext uri="{FF2B5EF4-FFF2-40B4-BE49-F238E27FC236}">
                <ns2:creationId id="{1B7778A6-0BB9-4A4F-8EE0-ABF8AA06D324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6572250" cy="323850"/>
          </a:xfrm>
          <a:prstGeom prst="roundRect">
            <a:avLst>
              <a:gd name="adj" fmla="val 23529"/>
            </a:avLst>
          </a:prstGeom>
          <a:solidFill>
            <a:srgbClr val="DDF8E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7FA76C39-2049-48BD-9500-BFFF6B14B904}"/>
              </a:ext>
            </a:extLst>
          </p:cNvPr>
          <p:cNvSpPr>
            <a:spLocks noGrp="1"/>
          </p:cNvSpPr>
          <p:nvPr/>
        </p:nvSpPr>
        <p:spPr>
          <a:xfrm>
            <a:off x="952500" y="4448175"/>
            <a:ext cx="6419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邻接矩阵适合本项目规模小、查边快的校园图</a:t>
            </a:r>
          </a:p>
        </p:txBody>
      </p:sp>
      <p:sp>
        <p:nvSpPr>
          <p:cNvPr id="21" name="">
            <a:extLst>
              <a:ext uri="{FF2B5EF4-FFF2-40B4-BE49-F238E27FC236}">
                <ns2:creationId id="{2D973B09-11C6-4885-85E8-8EA60A2BF3D8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访问一条边只需 matrix[u][v]，代价是空间复杂度固定为 O(n²)。本题 n≤15，这个代价非常可控。</a:t>
            </a:r>
          </a:p>
        </p:txBody>
      </p:sp>
    </p:spTree>
    <p:extLst>
      <p:ext uri="{BB962C8B-B14F-4D97-AF65-F5344CB8AC3E}">
        <p14:creationId val="1366955212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C6756A3-D2F2-4392-A3B1-1B5F60764A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6B2C55D-136A-46F3-B597-80BC891F32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3B82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5CC07E31-DDD0-48D0-A0B8-E5FE57120EBB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第一部分：数据结构</a:t>
            </a:r>
          </a:p>
        </p:txBody>
      </p:sp>
      <p:sp>
        <p:nvSpPr>
          <p:cNvPr id="4" name="">
            <a:extLst>
              <a:ext uri="{FF2B5EF4-FFF2-40B4-BE49-F238E27FC236}">
                <ns2:creationId id="{DF763315-9FF2-4771-BE05-6CDE988DBD40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933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栈、队列与路径父节点</a:t>
            </a:r>
          </a:p>
        </p:txBody>
      </p:sp>
      <p:sp>
        <p:nvSpPr>
          <p:cNvPr id="5" name="">
            <a:extLst>
              <a:ext uri="{FF2B5EF4-FFF2-40B4-BE49-F238E27FC236}">
                <ns2:creationId id="{B2AF03D6-C311-4A3C-9613-DFCD95A51708}"/>
              </a:ext>
            </a:extLst>
          </p:cNvPr>
          <p:cNvSpPr>
            <a:spLocks noGrp="1"/>
          </p:cNvSpPr>
          <p:nvPr/>
        </p:nvSpPr>
        <p:spPr>
          <a:xfrm>
            <a:off x="476250" y="10477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搜索算法的差异主要体现在“下一个结点如何取出”</a:t>
            </a:r>
          </a:p>
        </p:txBody>
      </p:sp>
      <p:sp>
        <p:nvSpPr>
          <p:cNvPr id="6" name="">
            <a:extLst>
              <a:ext uri="{FF2B5EF4-FFF2-40B4-BE49-F238E27FC236}">
                <ns2:creationId id="{355CCEF2-9D6D-4109-ABAF-EF8A85DFF035}"/>
              </a:ext>
            </a:extLst>
          </p:cNvPr>
          <p:cNvSpPr>
            <a:spLocks noGrp="1"/>
          </p:cNvSpPr>
          <p:nvPr/>
        </p:nvSpPr>
        <p:spPr>
          <a:xfrm>
            <a:off x="11049000" y="30480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>
              <a:ext uri="{FF2B5EF4-FFF2-40B4-BE49-F238E27FC236}">
                <ns2:creationId id="{11AF71F9-41A2-4A90-B307-0ABE7B9D30D4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3905250" cy="238125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6964E052-BC33-4CA0-83BE-50F2ABB63069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35623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typedef struct Stack {</a:t>
            </a:r>
            <a:endParaRPr lang="en-US" sz="1200"/>
          </a:p>
          <a:p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data[MAX_NODES];</a:t>
            </a:r>
            <a:endParaRPr lang="en-US" sz="1200"/>
          </a:p>
          <a:p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top;</a:t>
            </a:r>
            <a:endParaRPr lang="en-US" sz="1200"/>
          </a:p>
          <a:p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 Stack;</a:t>
            </a:r>
            <a:endParaRPr lang="en-US" sz="1200"/>
          </a:p>
          <a:p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1200"/>
          </a:p>
          <a:p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typedef struct Queue {</a:t>
            </a:r>
            <a:endParaRPr lang="en-US" sz="1200"/>
          </a:p>
          <a:p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data[MAX_NODES];</a:t>
            </a:r>
            <a:endParaRPr lang="en-US" sz="1200"/>
          </a:p>
          <a:p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front;</a:t>
            </a:r>
            <a:endParaRPr lang="en-US" sz="1200"/>
          </a:p>
          <a:p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rear;</a:t>
            </a:r>
            <a:endParaRPr lang="en-US" sz="1200"/>
          </a:p>
          <a:p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 Queue;</a:t>
            </a:r>
            <a:endParaRPr lang="en-US" sz="1200"/>
          </a:p>
        </p:txBody>
      </p:sp>
      <p:sp>
        <p:nvSpPr>
          <p:cNvPr id="9" name="">
            <a:extLst>
              <a:ext uri="{FF2B5EF4-FFF2-40B4-BE49-F238E27FC236}">
                <ns2:creationId id="{7D8F0485-4EB6-4D8A-8D5B-BCFCDB9096DA}"/>
              </a:ext>
            </a:extLst>
          </p:cNvPr>
          <p:cNvSpPr>
            <a:spLocks noGrp="1"/>
          </p:cNvSpPr>
          <p:nvPr/>
        </p:nvSpPr>
        <p:spPr>
          <a:xfrm>
            <a:off x="5048250" y="1581150"/>
            <a:ext cx="2381250" cy="2381250"/>
          </a:xfrm>
          <a:prstGeom prst="roundRect">
            <a:avLst>
              <a:gd name="adj" fmla="val 3200"/>
            </a:avLst>
          </a:prstGeom>
          <a:solidFill>
            <a:srgbClr val="DCEB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AD3055FB-2C39-4966-886B-D86EF78648F9}"/>
              </a:ext>
            </a:extLst>
          </p:cNvPr>
          <p:cNvSpPr>
            <a:spLocks noGrp="1"/>
          </p:cNvSpPr>
          <p:nvPr/>
        </p:nvSpPr>
        <p:spPr>
          <a:xfrm>
            <a:off x="5334000" y="1809750"/>
            <a:ext cx="180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Stack</a:t>
            </a:r>
          </a:p>
        </p:txBody>
      </p:sp>
      <p:sp>
        <p:nvSpPr>
          <p:cNvPr id="11" name="">
            <a:extLst>
              <a:ext uri="{FF2B5EF4-FFF2-40B4-BE49-F238E27FC236}">
                <ns2:creationId id="{33CBE268-4B71-4683-96C8-C6F6696728EB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1809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后进先出</a:t>
            </a:r>
          </a:p>
          <a:p>
            <a:pPr algn="ctr">
              <a:def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用于 DFS 路径搜索</a:t>
            </a:r>
          </a:p>
          <a:p>
            <a:pPr algn="ctr">
              <a:def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越晚压入的结点越早访问</a:t>
            </a:r>
          </a:p>
        </p:txBody>
      </p:sp>
      <p:sp>
        <p:nvSpPr>
          <p:cNvPr id="12" name="">
            <a:extLst>
              <a:ext uri="{FF2B5EF4-FFF2-40B4-BE49-F238E27FC236}">
                <ns2:creationId id="{04A6630A-361E-4D3C-8935-59709066E95E}"/>
              </a:ext>
            </a:extLst>
          </p:cNvPr>
          <p:cNvSpPr>
            <a:spLocks noGrp="1"/>
          </p:cNvSpPr>
          <p:nvPr/>
        </p:nvSpPr>
        <p:spPr>
          <a:xfrm>
            <a:off x="7886700" y="1581150"/>
            <a:ext cx="2381250" cy="2381250"/>
          </a:xfrm>
          <a:prstGeom prst="roundRect">
            <a:avLst>
              <a:gd name="adj" fmla="val 3200"/>
            </a:avLst>
          </a:prstGeom>
          <a:solidFill>
            <a:srgbClr val="FFD8A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04656202-B8A7-46BF-B1A3-4CDE992A1CB7}"/>
              </a:ext>
            </a:extLst>
          </p:cNvPr>
          <p:cNvSpPr>
            <a:spLocks noGrp="1"/>
          </p:cNvSpPr>
          <p:nvPr/>
        </p:nvSpPr>
        <p:spPr>
          <a:xfrm>
            <a:off x="8172450" y="1809750"/>
            <a:ext cx="180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4" name="">
            <a:extLst>
              <a:ext uri="{FF2B5EF4-FFF2-40B4-BE49-F238E27FC236}">
                <ns2:creationId id="{8C84313D-6B80-45BE-ACAA-674E050D6407}"/>
              </a:ext>
            </a:extLst>
          </p:cNvPr>
          <p:cNvSpPr>
            <a:spLocks noGrp="1"/>
          </p:cNvSpPr>
          <p:nvPr/>
        </p:nvSpPr>
        <p:spPr>
          <a:xfrm>
            <a:off x="8172450" y="2381250"/>
            <a:ext cx="1809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先进先出</a:t>
            </a:r>
          </a:p>
          <a:p>
            <a:pPr algn="ctr">
              <a:def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用于 BFS 层次扩展</a:t>
            </a:r>
          </a:p>
          <a:p>
            <a:pPr algn="ctr">
              <a:def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同层结点可以染成同色</a:t>
            </a:r>
          </a:p>
        </p:txBody>
      </p:sp>
      <p:sp>
        <p:nvSpPr>
          <p:cNvPr id="15" name="">
            <a:extLst>
              <a:ext uri="{FF2B5EF4-FFF2-40B4-BE49-F238E27FC236}">
                <ns2:creationId id="{877540C0-F9D8-4E7A-A784-15EC1A1ECA1D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9658350" cy="2209800"/>
          </a:xfrm>
          <a:prstGeom prst="roundRect">
            <a:avLst>
              <a:gd name="adj" fmla="val 6349"/>
            </a:avLst>
          </a:prstGeom>
          <a:solidFill>
            <a:srgbClr val="111827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BF092ADD-AD51-4DB8-9084-A5793578EAA6}"/>
              </a:ext>
            </a:extLst>
          </p:cNvPr>
          <p:cNvSpPr>
            <a:spLocks noGrp="1"/>
          </p:cNvSpPr>
          <p:nvPr/>
        </p:nvSpPr>
        <p:spPr>
          <a:xfrm>
            <a:off x="724000" y="4160000"/>
            <a:ext cx="9350000" cy="194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static int pathDistance(CampusGraph* graph, int start, int target, int parent[])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total;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cur;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prev;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total = 0;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cur = target;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while (cur != start &amp;&amp; parent[cur] != -1) {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prev = parent[cur];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total += graph-&gt;matrix[prev][cur];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cur = prev;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total;</a:t>
            </a:r>
            <a:endParaRPr lang="en-US" sz="950"/>
          </a:p>
          <a:p>
            <a:r>
              <a:rPr sz="9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950"/>
          </a:p>
        </p:txBody>
      </p:sp>
    </p:spTree>
    <p:extLst>
      <p:ext uri="{BB962C8B-B14F-4D97-AF65-F5344CB8AC3E}">
        <p14:creationId val="1604121080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CCE5E811-ED75-4890-99A9-8A0715833C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28E517C4-DB6F-45EC-83D5-045F8DB642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3B82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1BC6B494-16C9-4066-95AE-D33C30F40913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第一部分：数据结构</a:t>
            </a:r>
          </a:p>
        </p:txBody>
      </p:sp>
      <p:sp>
        <p:nvSpPr>
          <p:cNvPr id="4" name="">
            <a:extLst>
              <a:ext uri="{FF2B5EF4-FFF2-40B4-BE49-F238E27FC236}">
                <ns2:creationId id="{DE9F6168-8DCB-4BB9-8244-50AA9E3801B5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933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动态路况与可视化状态数组</a:t>
            </a:r>
          </a:p>
        </p:txBody>
      </p:sp>
      <p:sp>
        <p:nvSpPr>
          <p:cNvPr id="5" name="">
            <a:extLst>
              <a:ext uri="{FF2B5EF4-FFF2-40B4-BE49-F238E27FC236}">
                <ns2:creationId id="{76D16645-2F7D-4E8D-8720-12A6962D6D69}"/>
              </a:ext>
            </a:extLst>
          </p:cNvPr>
          <p:cNvSpPr>
            <a:spLocks noGrp="1"/>
          </p:cNvSpPr>
          <p:nvPr/>
        </p:nvSpPr>
        <p:spPr>
          <a:xfrm>
            <a:off x="476250" y="10477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Road Change 不直接覆盖原地图，而是在基础矩阵上叠加修改</a:t>
            </a:r>
          </a:p>
        </p:txBody>
      </p:sp>
      <p:sp>
        <p:nvSpPr>
          <p:cNvPr id="6" name="">
            <a:extLst>
              <a:ext uri="{FF2B5EF4-FFF2-40B4-BE49-F238E27FC236}">
                <ns2:creationId id="{E37859D6-8A97-47C7-9FC9-D0BF19C7BE43}"/>
              </a:ext>
            </a:extLst>
          </p:cNvPr>
          <p:cNvSpPr>
            <a:spLocks noGrp="1"/>
          </p:cNvSpPr>
          <p:nvPr/>
        </p:nvSpPr>
        <p:spPr>
          <a:xfrm>
            <a:off x="11049000" y="30480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>
              <a:ext uri="{FF2B5EF4-FFF2-40B4-BE49-F238E27FC236}">
                <ns2:creationId id="{39939790-71B2-491E-8204-D7E569814157}"/>
              </a:ext>
            </a:extLst>
          </p:cNvPr>
          <p:cNvSpPr>
            <a:spLocks noGrp="1"/>
          </p:cNvSpPr>
          <p:nvPr/>
        </p:nvSpPr>
        <p:spPr>
          <a:xfrm>
            <a:off x="609600" y="1470000"/>
            <a:ext cx="5048250" cy="4750000"/>
          </a:xfrm>
          <a:prstGeom prst="roundRect">
            <a:avLst>
              <a:gd name="adj" fmla="val 3125"/>
            </a:avLst>
          </a:prstGeom>
          <a:solidFill>
            <a:srgbClr val="111827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651AC650-053B-4A8A-A6B2-599FC4D6516B}"/>
              </a:ext>
            </a:extLst>
          </p:cNvPr>
          <p:cNvSpPr>
            <a:spLocks noGrp="1"/>
          </p:cNvSpPr>
          <p:nvPr/>
        </p:nvSpPr>
        <p:spPr>
          <a:xfrm>
            <a:off x="760000" y="1590000"/>
            <a:ext cx="4750000" cy="435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typedef struct RoadChange {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type;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from;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to;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distance;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 RoadChange;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static void applyRoadChangesToGraph(CampusGraph* graph)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i;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j;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a;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b;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value;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 = 0; i &lt; MAX_NODES; ++i) {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for (j = 0; j &lt; MAX_NODES; ++j) {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graph-&gt;matrix[i][j] = g_baseMatrix[i][j];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 = 0; i &lt; g_roadChangeCount; ++i) {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a = g_roadChanges[i].from;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b = g_roadChanges[i].to;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if (a &lt; 0 || b &lt; 0 || a &gt;= graph-&gt;nodeCount || b &gt;= graph-&gt;nodeCount || a == b) {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continue;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value = g_roadChanges[i].distance;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graph-&gt;matrix[a][b] = value;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graph-&gt;matrix[b][a] = value;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650"/>
          </a:p>
          <a:p>
            <a:r>
              <a:rPr sz="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650"/>
          </a:p>
        </p:txBody>
      </p:sp>
      <p:sp>
        <p:nvSpPr>
          <p:cNvPr id="9" name="">
            <a:extLst>
              <a:ext uri="{FF2B5EF4-FFF2-40B4-BE49-F238E27FC236}">
                <ns2:creationId id="{EE37559D-8E32-4A22-9F4B-BCCA56AA9F1B}"/>
              </a:ext>
            </a:extLst>
          </p:cNvPr>
          <p:cNvSpPr>
            <a:spLocks noGrp="1"/>
          </p:cNvSpPr>
          <p:nvPr/>
        </p:nvSpPr>
        <p:spPr>
          <a:xfrm>
            <a:off x="6153150" y="1809750"/>
            <a:ext cx="1066800" cy="609600"/>
          </a:xfrm>
          <a:prstGeom prst="roundRect">
            <a:avLst>
              <a:gd name="adj" fmla="val 12500"/>
            </a:avLst>
          </a:prstGeom>
          <a:solidFill>
            <a:srgbClr val="DCEB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4C4D45F2-8AA1-4EEA-B2FA-F620148C5F21}"/>
              </a:ext>
            </a:extLst>
          </p:cNvPr>
          <p:cNvSpPr>
            <a:spLocks noGrp="1"/>
          </p:cNvSpPr>
          <p:nvPr/>
        </p:nvSpPr>
        <p:spPr>
          <a:xfrm>
            <a:off x="6248400" y="1952625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g_base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Matrix</a:t>
            </a:r>
          </a:p>
        </p:txBody>
      </p:sp>
      <p:sp>
        <p:nvSpPr>
          <p:cNvPr id="11" name="">
            <a:extLst>
              <a:ext uri="{FF2B5EF4-FFF2-40B4-BE49-F238E27FC236}">
                <ns2:creationId id="{165B465D-2621-4AED-A902-FD2DCF779E8A}"/>
              </a:ext>
            </a:extLst>
          </p:cNvPr>
          <p:cNvSpPr>
            <a:spLocks noGrp="1"/>
          </p:cNvSpPr>
          <p:nvPr/>
        </p:nvSpPr>
        <p:spPr>
          <a:xfrm>
            <a:off x="7258050" y="1943100"/>
            <a:ext cx="11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>
              <a:ext uri="{FF2B5EF4-FFF2-40B4-BE49-F238E27FC236}">
                <ns2:creationId id="{5F96FFEE-8270-44A8-832B-CAEF9003D42B}"/>
              </a:ext>
            </a:extLst>
          </p:cNvPr>
          <p:cNvSpPr>
            <a:spLocks noGrp="1"/>
          </p:cNvSpPr>
          <p:nvPr/>
        </p:nvSpPr>
        <p:spPr>
          <a:xfrm>
            <a:off x="7410450" y="1809750"/>
            <a:ext cx="1066800" cy="609600"/>
          </a:xfrm>
          <a:prstGeom prst="roundRect">
            <a:avLst>
              <a:gd name="adj" fmla="val 12500"/>
            </a:avLst>
          </a:prstGeom>
          <a:solidFill>
            <a:srgbClr val="FFF3C4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B6E94D7D-1557-4829-AC7F-928D9064C035}"/>
              </a:ext>
            </a:extLst>
          </p:cNvPr>
          <p:cNvSpPr>
            <a:spLocks noGrp="1"/>
          </p:cNvSpPr>
          <p:nvPr/>
        </p:nvSpPr>
        <p:spPr>
          <a:xfrm>
            <a:off x="7505700" y="1952625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Road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Change</a:t>
            </a:r>
          </a:p>
        </p:txBody>
      </p:sp>
      <p:sp>
        <p:nvSpPr>
          <p:cNvPr id="14" name="">
            <a:extLst>
              <a:ext uri="{FF2B5EF4-FFF2-40B4-BE49-F238E27FC236}">
                <ns2:creationId id="{6F457894-F7AD-4305-87FD-DC0BD19C13A3}"/>
              </a:ext>
            </a:extLst>
          </p:cNvPr>
          <p:cNvSpPr>
            <a:spLocks noGrp="1"/>
          </p:cNvSpPr>
          <p:nvPr/>
        </p:nvSpPr>
        <p:spPr>
          <a:xfrm>
            <a:off x="8515350" y="1943100"/>
            <a:ext cx="11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>
              <a:ext uri="{FF2B5EF4-FFF2-40B4-BE49-F238E27FC236}">
                <ns2:creationId id="{055399DA-1D66-4A88-A167-0C793A407DC7}"/>
              </a:ext>
            </a:extLst>
          </p:cNvPr>
          <p:cNvSpPr>
            <a:spLocks noGrp="1"/>
          </p:cNvSpPr>
          <p:nvPr/>
        </p:nvSpPr>
        <p:spPr>
          <a:xfrm>
            <a:off x="8667750" y="1809750"/>
            <a:ext cx="1066800" cy="609600"/>
          </a:xfrm>
          <a:prstGeom prst="roundRect">
            <a:avLst>
              <a:gd name="adj" fmla="val 12500"/>
            </a:avLst>
          </a:prstGeom>
          <a:solidFill>
            <a:srgbClr val="DDF8E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09E56A73-1F72-4B8B-8F19-5879293D1FBA}"/>
              </a:ext>
            </a:extLst>
          </p:cNvPr>
          <p:cNvSpPr>
            <a:spLocks noGrp="1"/>
          </p:cNvSpPr>
          <p:nvPr/>
        </p:nvSpPr>
        <p:spPr>
          <a:xfrm>
            <a:off x="8763000" y="1952625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apply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changes</a:t>
            </a:r>
          </a:p>
        </p:txBody>
      </p:sp>
      <p:sp>
        <p:nvSpPr>
          <p:cNvPr id="17" name="">
            <a:extLst>
              <a:ext uri="{FF2B5EF4-FFF2-40B4-BE49-F238E27FC236}">
                <ns2:creationId id="{D3DAEDA6-F742-4B69-B495-42546269A2B6}"/>
              </a:ext>
            </a:extLst>
          </p:cNvPr>
          <p:cNvSpPr>
            <a:spLocks noGrp="1"/>
          </p:cNvSpPr>
          <p:nvPr/>
        </p:nvSpPr>
        <p:spPr>
          <a:xfrm>
            <a:off x="9772650" y="1943100"/>
            <a:ext cx="11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>
              <a:ext uri="{FF2B5EF4-FFF2-40B4-BE49-F238E27FC236}">
                <ns2:creationId id="{9C66EDF6-1275-4F42-9B0D-D28881194ECC}"/>
              </a:ext>
            </a:extLst>
          </p:cNvPr>
          <p:cNvSpPr>
            <a:spLocks noGrp="1"/>
          </p:cNvSpPr>
          <p:nvPr/>
        </p:nvSpPr>
        <p:spPr>
          <a:xfrm>
            <a:off x="9925050" y="1809750"/>
            <a:ext cx="1066800" cy="609600"/>
          </a:xfrm>
          <a:prstGeom prst="roundRect">
            <a:avLst>
              <a:gd name="adj" fmla="val 12500"/>
            </a:avLst>
          </a:prstGeom>
          <a:solidFill>
            <a:srgbClr val="FFD8A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5A81DE7C-B1B7-47AC-85BE-7F7D74B00C04}"/>
              </a:ext>
            </a:extLst>
          </p:cNvPr>
          <p:cNvSpPr>
            <a:spLocks noGrp="1"/>
          </p:cNvSpPr>
          <p:nvPr/>
        </p:nvSpPr>
        <p:spPr>
          <a:xfrm>
            <a:off x="10020300" y="1952625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g_graph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matrix</a:t>
            </a:r>
          </a:p>
        </p:txBody>
      </p:sp>
      <p:sp>
        <p:nvSpPr>
          <p:cNvPr id="20" name="">
            <a:extLst>
              <a:ext uri="{FF2B5EF4-FFF2-40B4-BE49-F238E27FC236}">
                <ns2:creationId id="{D11B0E51-B399-4CED-AFC9-CEFDA3DA9AE9}"/>
              </a:ext>
            </a:extLst>
          </p:cNvPr>
          <p:cNvSpPr>
            <a:spLocks noGrp="1"/>
          </p:cNvSpPr>
          <p:nvPr/>
        </p:nvSpPr>
        <p:spPr>
          <a:xfrm>
            <a:off x="6153150" y="3238500"/>
            <a:ext cx="453390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BCE0552E-2055-43C9-ACCF-2C449AFF9D6E}"/>
              </a:ext>
            </a:extLst>
          </p:cNvPr>
          <p:cNvSpPr>
            <a:spLocks noGrp="1"/>
          </p:cNvSpPr>
          <p:nvPr/>
        </p:nvSpPr>
        <p:spPr>
          <a:xfrm>
            <a:off x="6457950" y="34861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可视化状态数组</a:t>
            </a:r>
          </a:p>
        </p:txBody>
      </p:sp>
      <p:sp>
        <p:nvSpPr>
          <p:cNvPr id="22" name="">
            <a:extLst>
              <a:ext uri="{FF2B5EF4-FFF2-40B4-BE49-F238E27FC236}">
                <ns2:creationId id="{60B6ACE2-B1C3-4B0D-95CF-16608F304E6E}"/>
              </a:ext>
            </a:extLst>
          </p:cNvPr>
          <p:cNvSpPr>
            <a:spLocks noGrp="1"/>
          </p:cNvSpPr>
          <p:nvPr/>
        </p:nvSpPr>
        <p:spPr>
          <a:xfrm>
            <a:off x="6457950" y="4038600"/>
            <a:ext cx="114300" cy="114300"/>
          </a:xfrm>
          <a:prstGeom prst="ellipse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767EFF59-4E82-454E-9B11-E5F4E00282F7}"/>
              </a:ext>
            </a:extLst>
          </p:cNvPr>
          <p:cNvSpPr>
            <a:spLocks noGrp="1"/>
          </p:cNvSpPr>
          <p:nvPr/>
        </p:nvSpPr>
        <p:spPr>
          <a:xfrm>
            <a:off x="6705600" y="3943350"/>
            <a:ext cx="3467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12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g_visitOrder[]：记录 DFS/BFS/A* 的访问顺序</a:t>
            </a:r>
          </a:p>
        </p:txBody>
      </p:sp>
      <p:sp>
        <p:nvSpPr>
          <p:cNvPr id="24" name="">
            <a:extLst>
              <a:ext uri="{FF2B5EF4-FFF2-40B4-BE49-F238E27FC236}">
                <ns2:creationId id="{40B47B0F-FF4F-42A7-932E-D2F662F48208}"/>
              </a:ext>
            </a:extLst>
          </p:cNvPr>
          <p:cNvSpPr>
            <a:spLocks noGrp="1"/>
          </p:cNvSpPr>
          <p:nvPr/>
        </p:nvSpPr>
        <p:spPr>
          <a:xfrm>
            <a:off x="6457950" y="4381500"/>
            <a:ext cx="114300" cy="114300"/>
          </a:xfrm>
          <a:prstGeom prst="ellipse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C1215285-D74F-4FA4-A7BA-EF0CD02E9435}"/>
              </a:ext>
            </a:extLst>
          </p:cNvPr>
          <p:cNvSpPr>
            <a:spLocks noGrp="1"/>
          </p:cNvSpPr>
          <p:nvPr/>
        </p:nvSpPr>
        <p:spPr>
          <a:xfrm>
            <a:off x="6705600" y="4286250"/>
            <a:ext cx="3467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12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g_bfsLevel[]：记录 BFS 层数，用于相同层染色</a:t>
            </a:r>
          </a:p>
        </p:txBody>
      </p:sp>
      <p:sp>
        <p:nvSpPr>
          <p:cNvPr id="26" name="">
            <a:extLst>
              <a:ext uri="{FF2B5EF4-FFF2-40B4-BE49-F238E27FC236}">
                <ns2:creationId id="{AAF13252-C2F0-4E14-93C1-411E0D05034F}"/>
              </a:ext>
            </a:extLst>
          </p:cNvPr>
          <p:cNvSpPr>
            <a:spLocks noGrp="1"/>
          </p:cNvSpPr>
          <p:nvPr/>
        </p:nvSpPr>
        <p:spPr>
          <a:xfrm>
            <a:off x="6457950" y="4724400"/>
            <a:ext cx="114300" cy="114300"/>
          </a:xfrm>
          <a:prstGeom prst="ellipse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7B9BF4CD-5052-49D7-A96E-D91A94F18349}"/>
              </a:ext>
            </a:extLst>
          </p:cNvPr>
          <p:cNvSpPr>
            <a:spLocks noGrp="1"/>
          </p:cNvSpPr>
          <p:nvPr/>
        </p:nvSpPr>
        <p:spPr>
          <a:xfrm>
            <a:off x="6705600" y="4629150"/>
            <a:ext cx="3467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12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g_shortestDistance[]：鼠标点击结点时显示到起点的最短距离</a:t>
            </a:r>
          </a:p>
        </p:txBody>
      </p:sp>
      <p:sp>
        <p:nvSpPr>
          <p:cNvPr id="28" name="">
            <a:extLst>
              <a:ext uri="{FF2B5EF4-FFF2-40B4-BE49-F238E27FC236}">
                <ns2:creationId id="{5CC09205-5289-4906-99D9-E59C54027FAF}"/>
              </a:ext>
            </a:extLst>
          </p:cNvPr>
          <p:cNvSpPr>
            <a:spLocks noGrp="1"/>
          </p:cNvSpPr>
          <p:nvPr/>
        </p:nvSpPr>
        <p:spPr>
          <a:xfrm>
            <a:off x="6457950" y="5067300"/>
            <a:ext cx="114300" cy="114300"/>
          </a:xfrm>
          <a:prstGeom prst="ellipse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43BBB18F-674D-4A48-92E0-5CEDA753EA9F}"/>
              </a:ext>
            </a:extLst>
          </p:cNvPr>
          <p:cNvSpPr>
            <a:spLocks noGrp="1"/>
          </p:cNvSpPr>
          <p:nvPr/>
        </p:nvSpPr>
        <p:spPr>
          <a:xfrm>
            <a:off x="6705600" y="4972050"/>
            <a:ext cx="3467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12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g_lastParent[]：保存最近一次路径，用于画橙色路线</a:t>
            </a:r>
          </a:p>
        </p:txBody>
      </p:sp>
    </p:spTree>
    <p:extLst>
      <p:ext uri="{BB962C8B-B14F-4D97-AF65-F5344CB8AC3E}">
        <p14:creationId val="7375980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EE43F-62F0-4E99-BFF1-10269FEB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001DC-7CCA-46C8-AD64-18CFB1A6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ACE49-A139-46A5-B45E-E7166677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第一部分：数据结构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98F03-48E4-44FA-A267-EC1CFE16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数据流：从地图到结果显示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AE98E-F4E2-416E-8250-89180F75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程序把“图数据、搜索结果、界面展示”拆成几组状态，便于多算法复用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07BB8-2420-429B-8747-0286EFBC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00017-8B81-4543-8E48-7DA0A955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AFB62-4459-423B-BA0B-7D77BE98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生成地图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45E38-8979-4886-BED1-84BFD4F9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05000"/>
            <a:ext cx="13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4530C-B350-4650-8D90-576C2D01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3355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7FF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6201F-8C33-44AB-90AC-BF95690C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764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保存基础矩阵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75D50-3F05-4EEE-B6D2-F7E06E85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13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E6DC2-A3E6-4240-86FD-A62ADE0D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3355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C9CFA-07A3-4D10-AEBF-71EF1E24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764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追加道路变化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9AD9D-AB4F-43BB-93D8-26942E28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05000"/>
            <a:ext cx="13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3A7A0-849B-4A01-995C-3B64E407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3355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8E8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E048B-66EC-41C2-8937-739A2DA7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764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运行搜索算法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E1EC8-ACEC-4AA0-B4CA-6B2168CF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05000"/>
            <a:ext cx="13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74974-D6C1-4D38-B68B-5B083DC3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8A8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E94E0-0622-495E-975D-21BC9FE6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764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parent 回溯路径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53105-66D7-47A4-98B4-32758D7D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05000"/>
            <a:ext cx="13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12ACB-3E8A-425D-9A09-C5870AAB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DDFF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7B111-8A6A-4799-9307-1A1EA256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764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绘制结果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D7831-1D1B-4FEB-B832-0BBABF6A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762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047A8-3E87-4207-80C6-5E7A9455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09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F3DCF3-60C4-4608-A6D2-5FDA7D23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DD7D7-F3A0-4915-B1E2-AFDD7B6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同一个 CampusGraph 可以被 DFS、BFS、A* 共同使用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8D8DA1-E158-401E-B152-4A96C74C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9CBE3-D435-4B0B-AD09-E80CFF25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Road Change 可以多次增删，不破坏原始地图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34E4B5-12BF-4FA2-BE5A-F25C7A6E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695A34-44B5-4890-B397-6D540476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parent / visitOrder / bfsLevel 让文本结果和动态图同步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17AF87-2B7A-4CB8-9EA6-5F0E6198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1285875" cy="2571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EC5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41D28E-F8EE-486C-A3D0-C228CE42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3709988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E1E38E-DC87-4C8F-A7BB-2652FC78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952875"/>
            <a:ext cx="904875" cy="857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EC5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98CF97-3C23-499F-A8B7-88CB53D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3" y="42672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0E9DFF-BD2C-4332-AE63-41089772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-495300" cy="1238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EC5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8A4A81-9139-4070-AABE-D4E38C3D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005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4C81C6-B811-4821-B941-BF55A7B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447800" cy="4476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EC5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B9AE10-FE8E-41BE-9144-1871B3CA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43488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32491A-54E9-4793-9553-6B4C50A6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81625"/>
            <a:ext cx="1238250" cy="-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EC5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FEF02E-830B-48B9-B1EA-95046D2D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98157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4C7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A06E7F-F4E9-4FFD-83B6-354CCA30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8"/>
          </a:solidFill>
          <a:ln xmlns:a="http://schemas.openxmlformats.org/drawingml/2006/main" w="28575">
            <a:solidFill>
              <a:srgbClr val="FB923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BFA9D1-E599-468B-B921-A5404338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DBFD48-93DD-43D7-8A5D-8BEBF5A9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624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Express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6F9AF2-2DF4-43E9-9950-FAF0B6DA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724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28575">
            <a:solidFill>
              <a:srgbClr val="FB923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CD25F5-ADFB-497C-9A8B-4A3044FF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195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AEA4F8-855D-4F14-AD77-329F5758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957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Dorm 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09E364-803A-4E58-A6C3-319F79EE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581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28575">
            <a:solidFill>
              <a:srgbClr val="FB923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B9D74A-5BCA-4774-BEA2-3CBFFEC2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6767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503616-8397-4AF1-B96B-A212B1B8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0768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Dorm 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0BC4C0-790D-426F-94E8-02D9494D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5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28575">
            <a:solidFill>
              <a:srgbClr val="FB923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D54F63-A7AF-4D08-AFAD-98489E96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482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A8BC11-2268-49C9-AE29-EE1DACFC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48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Library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FC49E2-D65F-478D-A91E-33F91E97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05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28575">
            <a:solidFill>
              <a:srgbClr val="FB923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C21B6C-A7F7-4506-8677-63975398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006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780B93-2267-478A-A20C-974B0880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006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599851439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12E87CDB-76C9-4524-A6CD-8A5739E168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262B0CE2-4640-44B3-8114-49BEEEE399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39C23467-B962-401E-87B4-3BB19862FC99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第二部分：算法</a:t>
            </a:r>
          </a:p>
        </p:txBody>
      </p:sp>
      <p:sp>
        <p:nvSpPr>
          <p:cNvPr id="4" name="">
            <a:extLst>
              <a:ext uri="{FF2B5EF4-FFF2-40B4-BE49-F238E27FC236}">
                <ns2:creationId id="{FFE3FA6D-52C9-49A0-82F5-25C2BA61397D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933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地图生成与连通性修正</a:t>
            </a:r>
          </a:p>
        </p:txBody>
      </p:sp>
      <p:sp>
        <p:nvSpPr>
          <p:cNvPr id="5" name="">
            <a:extLst>
              <a:ext uri="{FF2B5EF4-FFF2-40B4-BE49-F238E27FC236}">
                <ns2:creationId id="{3A91A5B5-AB63-4EE7-8D4E-DCCDC3FEA289}"/>
              </a:ext>
            </a:extLst>
          </p:cNvPr>
          <p:cNvSpPr>
            <a:spLocks noGrp="1"/>
          </p:cNvSpPr>
          <p:nvPr/>
        </p:nvSpPr>
        <p:spPr>
          <a:xfrm>
            <a:off x="476250" y="10477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先生成随机校园图，再用 DFS 检查是否所有结点可达</a:t>
            </a:r>
          </a:p>
        </p:txBody>
      </p:sp>
      <p:sp>
        <p:nvSpPr>
          <p:cNvPr id="6" name="">
            <a:extLst>
              <a:ext uri="{FF2B5EF4-FFF2-40B4-BE49-F238E27FC236}">
                <ns2:creationId id="{FCE701A4-C01D-4191-9364-90539787DBB6}"/>
              </a:ext>
            </a:extLst>
          </p:cNvPr>
          <p:cNvSpPr>
            <a:spLocks noGrp="1"/>
          </p:cNvSpPr>
          <p:nvPr/>
        </p:nvSpPr>
        <p:spPr>
          <a:xfrm>
            <a:off x="11049000" y="30480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>
              <a:ext uri="{FF2B5EF4-FFF2-40B4-BE49-F238E27FC236}">
                <ns2:creationId id="{F9FB462C-2F7D-465B-A48A-B520E8ADF476}"/>
              </a:ext>
            </a:extLst>
          </p:cNvPr>
          <p:cNvSpPr>
            <a:spLocks noGrp="1"/>
          </p:cNvSpPr>
          <p:nvPr/>
        </p:nvSpPr>
        <p:spPr>
          <a:xfrm>
            <a:off x="571500" y="1450000"/>
            <a:ext cx="5600000" cy="3550000"/>
          </a:xfrm>
          <a:prstGeom prst="roundRect">
            <a:avLst>
              <a:gd name="adj" fmla="val 3030"/>
            </a:avLst>
          </a:prstGeom>
          <a:solidFill>
            <a:srgbClr val="111827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400AB3A3-CF63-46B2-AD50-C5101D35EFEC}"/>
              </a:ext>
            </a:extLst>
          </p:cNvPr>
          <p:cNvSpPr>
            <a:spLocks noGrp="1"/>
          </p:cNvSpPr>
          <p:nvPr/>
        </p:nvSpPr>
        <p:spPr>
          <a:xfrm>
            <a:off x="700000" y="1540000"/>
            <a:ext cx="5350000" cy="330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static void ensureConnected(CampusGraph* graph)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visited[MAX_NODES];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i;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connectedNode;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isolatedNode;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weight;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while (!isConnected(graph)) {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for (i = 0; i &lt; graph-&gt;nodeCount; ++i) {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visited[i] = 0;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dfsVisit(graph, 0, visited);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isolatedNode = firstUnvisitedNode(graph, visited);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connectedNode = firstVisitedNode(graph, visited);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if (isolatedNode &lt; 0 || isolatedNode &gt;= graph-&gt;nodeCount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|| connectedNode &lt; 0 || connectedNode &gt;= graph-&gt;nodeCount) {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return;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weight = 3 + rand() % 20;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graph-&gt;matrix[isolatedNode][connectedNode] = weight;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graph-&gt;matrix[connectedNode][isolatedNode] = weight;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800"/>
          </a:p>
          <a:p>
            <a:r>
              <a:rPr sz="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800"/>
          </a:p>
        </p:txBody>
      </p:sp>
      <p:sp>
        <p:nvSpPr>
          <p:cNvPr id="9" name="">
            <a:extLst>
              <a:ext uri="{FF2B5EF4-FFF2-40B4-BE49-F238E27FC236}">
                <ns2:creationId id="{D9046DC3-5A98-4F0C-AA70-093A8B9D0D7F}"/>
              </a:ext>
            </a:extLst>
          </p:cNvPr>
          <p:cNvSpPr>
            <a:spLocks noGrp="1"/>
          </p:cNvSpPr>
          <p:nvPr/>
        </p:nvSpPr>
        <p:spPr>
          <a:xfrm>
            <a:off x="6286500" y="1504950"/>
            <a:ext cx="4305300" cy="2476500"/>
          </a:xfrm>
          <a:prstGeom prst="roundRect">
            <a:avLst>
              <a:gd name="adj" fmla="val 3077"/>
            </a:avLst>
          </a:prstGeom>
          <a:solidFill>
            <a:srgbClr val="DDF8E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2ED46426-1538-497E-B472-4E3766F76537}"/>
              </a:ext>
            </a:extLst>
          </p:cNvPr>
          <p:cNvSpPr>
            <a:spLocks noGrp="1"/>
          </p:cNvSpPr>
          <p:nvPr/>
        </p:nvSpPr>
        <p:spPr>
          <a:xfrm>
            <a:off x="6610350" y="177165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ensureConnected()</a:t>
            </a:r>
          </a:p>
        </p:txBody>
      </p:sp>
      <p:sp>
        <p:nvSpPr>
          <p:cNvPr id="11" name="">
            <a:extLst>
              <a:ext uri="{FF2B5EF4-FFF2-40B4-BE49-F238E27FC236}">
                <ns2:creationId id="{F68EB29F-856D-4FCE-9471-8FF492909270}"/>
              </a:ext>
            </a:extLst>
          </p:cNvPr>
          <p:cNvSpPr>
            <a:spLocks noGrp="1"/>
          </p:cNvSpPr>
          <p:nvPr/>
        </p:nvSpPr>
        <p:spPr>
          <a:xfrm>
            <a:off x="6610350" y="2381250"/>
            <a:ext cx="819150" cy="533400"/>
          </a:xfrm>
          <a:prstGeom prst="roundRect">
            <a:avLst>
              <a:gd name="adj" fmla="val 14286"/>
            </a:avLst>
          </a:prstGeom>
          <a:solidFill>
            <a:srgbClr val="DCEB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3D470052-7B8E-41DE-BFB1-5E8AC0BB7890}"/>
              </a:ext>
            </a:extLst>
          </p:cNvPr>
          <p:cNvSpPr>
            <a:spLocks noGrp="1"/>
          </p:cNvSpPr>
          <p:nvPr/>
        </p:nvSpPr>
        <p:spPr>
          <a:xfrm>
            <a:off x="6705600" y="2524125"/>
            <a:ext cx="628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DFS 标记</a:t>
            </a:r>
          </a:p>
        </p:txBody>
      </p:sp>
      <p:sp>
        <p:nvSpPr>
          <p:cNvPr id="13" name="">
            <a:extLst>
              <a:ext uri="{FF2B5EF4-FFF2-40B4-BE49-F238E27FC236}">
                <ns2:creationId id="{1B8F947B-FAC0-4CE0-90DF-E4E4A9F0A0FC}"/>
              </a:ext>
            </a:extLst>
          </p:cNvPr>
          <p:cNvSpPr>
            <a:spLocks noGrp="1"/>
          </p:cNvSpPr>
          <p:nvPr/>
        </p:nvSpPr>
        <p:spPr>
          <a:xfrm>
            <a:off x="7467600" y="2476500"/>
            <a:ext cx="11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>
              <a:ext uri="{FF2B5EF4-FFF2-40B4-BE49-F238E27FC236}">
                <ns2:creationId id="{08B0A59A-005A-404D-8712-0AC8ECC12214}"/>
              </a:ext>
            </a:extLst>
          </p:cNvPr>
          <p:cNvSpPr>
            <a:spLocks noGrp="1"/>
          </p:cNvSpPr>
          <p:nvPr/>
        </p:nvSpPr>
        <p:spPr>
          <a:xfrm>
            <a:off x="7620000" y="2381250"/>
            <a:ext cx="819150" cy="533400"/>
          </a:xfrm>
          <a:prstGeom prst="roundRect">
            <a:avLst>
              <a:gd name="adj" fmla="val 14286"/>
            </a:avLst>
          </a:prstGeom>
          <a:solidFill>
            <a:srgbClr val="FFF3C4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EB4075FC-1510-425F-ABA0-8934152349D3}"/>
              </a:ext>
            </a:extLst>
          </p:cNvPr>
          <p:cNvSpPr>
            <a:spLocks noGrp="1"/>
          </p:cNvSpPr>
          <p:nvPr/>
        </p:nvSpPr>
        <p:spPr>
          <a:xfrm>
            <a:off x="7715250" y="2524125"/>
            <a:ext cx="628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找未访问结点</a:t>
            </a:r>
          </a:p>
        </p:txBody>
      </p:sp>
      <p:sp>
        <p:nvSpPr>
          <p:cNvPr id="16" name="">
            <a:extLst>
              <a:ext uri="{FF2B5EF4-FFF2-40B4-BE49-F238E27FC236}">
                <ns2:creationId id="{EF4E29F4-52AA-4AA2-9A90-6DB9DC452A49}"/>
              </a:ext>
            </a:extLst>
          </p:cNvPr>
          <p:cNvSpPr>
            <a:spLocks noGrp="1"/>
          </p:cNvSpPr>
          <p:nvPr/>
        </p:nvSpPr>
        <p:spPr>
          <a:xfrm>
            <a:off x="8477250" y="2476500"/>
            <a:ext cx="11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>
              <a:ext uri="{FF2B5EF4-FFF2-40B4-BE49-F238E27FC236}">
                <ns2:creationId id="{BFD7466B-53D6-4230-89C2-0A67E6C3B3A3}"/>
              </a:ext>
            </a:extLst>
          </p:cNvPr>
          <p:cNvSpPr>
            <a:spLocks noGrp="1"/>
          </p:cNvSpPr>
          <p:nvPr/>
        </p:nvSpPr>
        <p:spPr>
          <a:xfrm>
            <a:off x="8629650" y="2381250"/>
            <a:ext cx="819150" cy="533400"/>
          </a:xfrm>
          <a:prstGeom prst="roundRect">
            <a:avLst>
              <a:gd name="adj" fmla="val 14286"/>
            </a:avLst>
          </a:prstGeom>
          <a:solidFill>
            <a:srgbClr val="DDF7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D056556F-B3F9-4341-A6B7-CAA29CC73116}"/>
              </a:ext>
            </a:extLst>
          </p:cNvPr>
          <p:cNvSpPr>
            <a:spLocks noGrp="1"/>
          </p:cNvSpPr>
          <p:nvPr/>
        </p:nvSpPr>
        <p:spPr>
          <a:xfrm>
            <a:off x="8724900" y="2524125"/>
            <a:ext cx="628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找已访问结点</a:t>
            </a:r>
          </a:p>
        </p:txBody>
      </p:sp>
      <p:sp>
        <p:nvSpPr>
          <p:cNvPr id="19" name="">
            <a:extLst>
              <a:ext uri="{FF2B5EF4-FFF2-40B4-BE49-F238E27FC236}">
                <ns2:creationId id="{FE212056-CE05-4215-A284-A389C87FCDCC}"/>
              </a:ext>
            </a:extLst>
          </p:cNvPr>
          <p:cNvSpPr>
            <a:spLocks noGrp="1"/>
          </p:cNvSpPr>
          <p:nvPr/>
        </p:nvSpPr>
        <p:spPr>
          <a:xfrm>
            <a:off x="9486900" y="2476500"/>
            <a:ext cx="11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>
              <a:ext uri="{FF2B5EF4-FFF2-40B4-BE49-F238E27FC236}">
                <ns2:creationId id="{EE25E05A-4E33-4A87-8B03-69C37ABF0830}"/>
              </a:ext>
            </a:extLst>
          </p:cNvPr>
          <p:cNvSpPr>
            <a:spLocks noGrp="1"/>
          </p:cNvSpPr>
          <p:nvPr/>
        </p:nvSpPr>
        <p:spPr>
          <a:xfrm>
            <a:off x="9639300" y="2381250"/>
            <a:ext cx="819150" cy="533400"/>
          </a:xfrm>
          <a:prstGeom prst="roundRect">
            <a:avLst>
              <a:gd name="adj" fmla="val 14286"/>
            </a:avLst>
          </a:prstGeom>
          <a:solidFill>
            <a:srgbClr val="FFD8A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58181930-3CEE-465C-995F-BF98403F08A4}"/>
              </a:ext>
            </a:extLst>
          </p:cNvPr>
          <p:cNvSpPr>
            <a:spLocks noGrp="1"/>
          </p:cNvSpPr>
          <p:nvPr/>
        </p:nvSpPr>
        <p:spPr>
          <a:xfrm>
            <a:off x="9734550" y="2524125"/>
            <a:ext cx="628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增加随机边</a:t>
            </a:r>
          </a:p>
        </p:txBody>
      </p:sp>
      <p:sp>
        <p:nvSpPr>
          <p:cNvPr id="22" name="">
            <a:extLst>
              <a:ext uri="{FF2B5EF4-FFF2-40B4-BE49-F238E27FC236}">
                <ns2:creationId id="{9AB3D4E8-622B-4F09-9F56-3D35CDE90251}"/>
              </a:ext>
            </a:extLst>
          </p:cNvPr>
          <p:cNvSpPr>
            <a:spLocks noGrp="1"/>
          </p:cNvSpPr>
          <p:nvPr/>
        </p:nvSpPr>
        <p:spPr>
          <a:xfrm>
            <a:off x="6610350" y="3257550"/>
            <a:ext cx="342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如果仍有孤立楼栋，就把孤立结点连到一个已连通结点上，直到整张图连通。</a:t>
            </a:r>
          </a:p>
        </p:txBody>
      </p:sp>
      <p:sp>
        <p:nvSpPr>
          <p:cNvPr id="23" name="">
            <a:extLst>
              <a:ext uri="{FF2B5EF4-FFF2-40B4-BE49-F238E27FC236}">
                <ns2:creationId id="{D8C9EDEA-15CC-4C31-A9C3-326B0719A4B8}"/>
              </a:ext>
            </a:extLst>
          </p:cNvPr>
          <p:cNvSpPr>
            <a:spLocks noGrp="1"/>
          </p:cNvSpPr>
          <p:nvPr/>
        </p:nvSpPr>
        <p:spPr>
          <a:xfrm>
            <a:off x="876300" y="5260000"/>
            <a:ext cx="5715000" cy="323850"/>
          </a:xfrm>
          <a:prstGeom prst="roundRect">
            <a:avLst>
              <a:gd name="adj" fmla="val 23529"/>
            </a:avLst>
          </a:prstGeom>
          <a:solidFill>
            <a:srgbClr val="FFF3C4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B151C1D9-E447-4DAC-8283-04E426C04200}"/>
              </a:ext>
            </a:extLst>
          </p:cNvPr>
          <p:cNvSpPr>
            <a:spLocks noGrp="1"/>
          </p:cNvSpPr>
          <p:nvPr/>
        </p:nvSpPr>
        <p:spPr>
          <a:xfrm>
            <a:off x="952500" y="5307625"/>
            <a:ext cx="556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结果：地图不会出现无法配送到的宿舍楼</a:t>
            </a:r>
          </a:p>
        </p:txBody>
      </p:sp>
    </p:spTree>
    <p:extLst>
      <p:ext uri="{BB962C8B-B14F-4D97-AF65-F5344CB8AC3E}">
        <p14:creationId val="945105504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98AFCC7-F138-419D-8E46-DF3AA61AE9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1310D3CC-E714-4B36-9115-079311D4A3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EEF91D92-D48D-4772-8867-86AAE8A239D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第二部分：算法</a:t>
            </a:r>
          </a:p>
        </p:txBody>
      </p:sp>
      <p:sp>
        <p:nvSpPr>
          <p:cNvPr id="4" name="">
            <a:extLst>
              <a:ext uri="{FF2B5EF4-FFF2-40B4-BE49-F238E27FC236}">
                <ns2:creationId id="{98C0A223-674B-40C1-9F22-2BC08A650901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933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DFS 连通性测试</a:t>
            </a:r>
          </a:p>
        </p:txBody>
      </p:sp>
      <p:sp>
        <p:nvSpPr>
          <p:cNvPr id="5" name="">
            <a:extLst>
              <a:ext uri="{FF2B5EF4-FFF2-40B4-BE49-F238E27FC236}">
                <ns2:creationId id="{EF88C145-EF5B-47B2-A9A8-F9A9C8B2ABBA}"/>
              </a:ext>
            </a:extLst>
          </p:cNvPr>
          <p:cNvSpPr>
            <a:spLocks noGrp="1"/>
          </p:cNvSpPr>
          <p:nvPr/>
        </p:nvSpPr>
        <p:spPr>
          <a:xfrm>
            <a:off x="476250" y="10477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递归 DFS 用 visited[] 记录结点是否从 0 号快递中心可达</a:t>
            </a:r>
          </a:p>
        </p:txBody>
      </p:sp>
      <p:sp>
        <p:nvSpPr>
          <p:cNvPr id="6" name="">
            <a:extLst>
              <a:ext uri="{FF2B5EF4-FFF2-40B4-BE49-F238E27FC236}">
                <ns2:creationId id="{FF6254B1-7C73-438A-A88B-E94628F2889E}"/>
              </a:ext>
            </a:extLst>
          </p:cNvPr>
          <p:cNvSpPr>
            <a:spLocks noGrp="1"/>
          </p:cNvSpPr>
          <p:nvPr/>
        </p:nvSpPr>
        <p:spPr>
          <a:xfrm>
            <a:off x="11049000" y="30480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>
              <a:ext uri="{FF2B5EF4-FFF2-40B4-BE49-F238E27FC236}">
                <ns2:creationId id="{E1A06105-F3BD-4446-9204-EEFEF07F3031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6286500" cy="238125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DBA983AD-7D0D-49FA-8170-F59F847BD3B3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59436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static void dfsVisit(CampusGraph* graph, int vertex, int visited[])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i;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visited[vertex] = 1;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 = 0; i &lt; graph-&gt;nodeCount; ++i) 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if (!visited[i] &amp;&amp; graph-&gt;matrix[vertex][i] &gt; 0 &amp;&amp; graph-&gt;matrix[vertex][i] &lt; ROAD_BLOCK) 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dfsVisit(graph, i, visited);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static int isConnected(CampusGraph* graph)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visited[MAX_NODES];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i;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(graph-&gt;nodeCount == 0) 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0;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 = 0; i &lt; graph-&gt;nodeCount; ++i) 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visited[i] = 0;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dfsVisit(graph, 0, visited);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 = 0; i &lt; graph-&gt;nodeCount; ++i) 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if (!visited[i]) 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return 0;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1;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780"/>
          </a:p>
        </p:txBody>
      </p:sp>
      <p:sp>
        <p:nvSpPr>
          <p:cNvPr id="9" name="">
            <a:extLst>
              <a:ext uri="{FF2B5EF4-FFF2-40B4-BE49-F238E27FC236}">
                <ns2:creationId id="{A184A8BC-3407-4F72-BCD3-73761FEF3A0E}"/>
              </a:ext>
            </a:extLst>
          </p:cNvPr>
          <p:cNvSpPr>
            <a:spLocks noGrp="1"/>
          </p:cNvSpPr>
          <p:nvPr/>
        </p:nvSpPr>
        <p:spPr>
          <a:xfrm>
            <a:off x="7429500" y="158115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EB06518E-ECBC-4CA0-A93A-A8758251F909}"/>
              </a:ext>
            </a:extLst>
          </p:cNvPr>
          <p:cNvSpPr>
            <a:spLocks noGrp="1"/>
          </p:cNvSpPr>
          <p:nvPr/>
        </p:nvSpPr>
        <p:spPr>
          <a:xfrm>
            <a:off x="7734300" y="18288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实现流程</a:t>
            </a:r>
          </a:p>
        </p:txBody>
      </p:sp>
      <p:sp>
        <p:nvSpPr>
          <p:cNvPr id="11" name="">
            <a:extLst>
              <a:ext uri="{FF2B5EF4-FFF2-40B4-BE49-F238E27FC236}">
                <ns2:creationId id="{2208FB5B-D6CF-4D04-8EC2-36BF24339322}"/>
              </a:ext>
            </a:extLst>
          </p:cNvPr>
          <p:cNvSpPr>
            <a:spLocks noGrp="1"/>
          </p:cNvSpPr>
          <p:nvPr/>
        </p:nvSpPr>
        <p:spPr>
          <a:xfrm>
            <a:off x="7734300" y="2381250"/>
            <a:ext cx="114300" cy="114300"/>
          </a:xfrm>
          <a:prstGeom prst="ellipse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14906740-D864-4E3B-8D45-3B00603DA008}"/>
              </a:ext>
            </a:extLst>
          </p:cNvPr>
          <p:cNvSpPr>
            <a:spLocks noGrp="1"/>
          </p:cNvSpPr>
          <p:nvPr/>
        </p:nvSpPr>
        <p:spPr>
          <a:xfrm>
            <a:off x="7981950" y="2286000"/>
            <a:ext cx="2228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从结点 0 开始</a:t>
            </a:r>
          </a:p>
        </p:txBody>
      </p:sp>
      <p:sp>
        <p:nvSpPr>
          <p:cNvPr id="13" name="">
            <a:extLst>
              <a:ext uri="{FF2B5EF4-FFF2-40B4-BE49-F238E27FC236}">
                <ns2:creationId id="{C02B572A-5EE9-4C53-9570-EB84FD53CD1D}"/>
              </a:ext>
            </a:extLst>
          </p:cNvPr>
          <p:cNvSpPr>
            <a:spLocks noGrp="1"/>
          </p:cNvSpPr>
          <p:nvPr/>
        </p:nvSpPr>
        <p:spPr>
          <a:xfrm>
            <a:off x="7734300" y="2743200"/>
            <a:ext cx="114300" cy="114300"/>
          </a:xfrm>
          <a:prstGeom prst="ellipse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A9A975AE-AB2F-405D-ABDC-E56B0028E081}"/>
              </a:ext>
            </a:extLst>
          </p:cNvPr>
          <p:cNvSpPr>
            <a:spLocks noGrp="1"/>
          </p:cNvSpPr>
          <p:nvPr/>
        </p:nvSpPr>
        <p:spPr>
          <a:xfrm>
            <a:off x="7981950" y="2647950"/>
            <a:ext cx="2228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沿所有可通边递归</a:t>
            </a:r>
          </a:p>
        </p:txBody>
      </p:sp>
      <p:sp>
        <p:nvSpPr>
          <p:cNvPr id="15" name="">
            <a:extLst>
              <a:ext uri="{FF2B5EF4-FFF2-40B4-BE49-F238E27FC236}">
                <ns2:creationId id="{80ED8BEF-8B1B-4CE2-83C6-E3A39D8C4848}"/>
              </a:ext>
            </a:extLst>
          </p:cNvPr>
          <p:cNvSpPr>
            <a:spLocks noGrp="1"/>
          </p:cNvSpPr>
          <p:nvPr/>
        </p:nvSpPr>
        <p:spPr>
          <a:xfrm>
            <a:off x="7734300" y="3105150"/>
            <a:ext cx="114300" cy="114300"/>
          </a:xfrm>
          <a:prstGeom prst="ellipse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1A59E6FF-F466-42E4-A97F-2AB4AC91AEFF}"/>
              </a:ext>
            </a:extLst>
          </p:cNvPr>
          <p:cNvSpPr>
            <a:spLocks noGrp="1"/>
          </p:cNvSpPr>
          <p:nvPr/>
        </p:nvSpPr>
        <p:spPr>
          <a:xfrm>
            <a:off x="7981950" y="3009900"/>
            <a:ext cx="2228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标记可达结点</a:t>
            </a:r>
          </a:p>
        </p:txBody>
      </p:sp>
      <p:sp>
        <p:nvSpPr>
          <p:cNvPr id="17" name="">
            <a:extLst>
              <a:ext uri="{FF2B5EF4-FFF2-40B4-BE49-F238E27FC236}">
                <ns2:creationId id="{AE3C54F2-0CAE-47DA-9DF6-B34E356C181B}"/>
              </a:ext>
            </a:extLst>
          </p:cNvPr>
          <p:cNvSpPr>
            <a:spLocks noGrp="1"/>
          </p:cNvSpPr>
          <p:nvPr/>
        </p:nvSpPr>
        <p:spPr>
          <a:xfrm>
            <a:off x="7734300" y="3467100"/>
            <a:ext cx="114300" cy="114300"/>
          </a:xfrm>
          <a:prstGeom prst="ellipse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F2D5D7E5-8BDF-480F-8258-DBA192E1D224}"/>
              </a:ext>
            </a:extLst>
          </p:cNvPr>
          <p:cNvSpPr>
            <a:spLocks noGrp="1"/>
          </p:cNvSpPr>
          <p:nvPr/>
        </p:nvSpPr>
        <p:spPr>
          <a:xfrm>
            <a:off x="7981950" y="3371850"/>
            <a:ext cx="2228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检查是否仍存在 visited[i] = 0</a:t>
            </a:r>
          </a:p>
        </p:txBody>
      </p:sp>
      <p:sp>
        <p:nvSpPr>
          <p:cNvPr id="19" name="">
            <a:extLst>
              <a:ext uri="{FF2B5EF4-FFF2-40B4-BE49-F238E27FC236}">
                <ns2:creationId id="{BF9AC589-7B05-4403-823E-C6A44EDEAA94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4095750" cy="323850"/>
          </a:xfrm>
          <a:prstGeom prst="roundRect">
            <a:avLst>
              <a:gd name="adj" fmla="val 23529"/>
            </a:avLst>
          </a:prstGeom>
          <a:solidFill>
            <a:srgbClr val="DDF8E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696DA933-215A-4D63-9EA6-0DD3237FAECD}"/>
              </a:ext>
            </a:extLst>
          </p:cNvPr>
          <p:cNvSpPr>
            <a:spLocks noGrp="1"/>
          </p:cNvSpPr>
          <p:nvPr/>
        </p:nvSpPr>
        <p:spPr>
          <a:xfrm>
            <a:off x="952500" y="4714875"/>
            <a:ext cx="3943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时间复杂度：邻接矩阵写法约 O(n²)</a:t>
            </a:r>
          </a:p>
        </p:txBody>
      </p:sp>
    </p:spTree>
    <p:extLst>
      <p:ext uri="{BB962C8B-B14F-4D97-AF65-F5344CB8AC3E}">
        <p14:creationId val="272909335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B044FD85-55CD-401D-956D-26F2F3EF00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C05C8294-18B4-4876-B4B2-69D3FE85A5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BE5A33E6-70CC-4BA0-BA9C-CEA468D10E5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第二部分：算法</a:t>
            </a:r>
          </a:p>
        </p:txBody>
      </p:sp>
      <p:sp>
        <p:nvSpPr>
          <p:cNvPr id="4" name="">
            <a:extLst>
              <a:ext uri="{FF2B5EF4-FFF2-40B4-BE49-F238E27FC236}">
                <ns2:creationId id="{BD44F013-AC5A-49F5-B0CC-4A0A7BF5012F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933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栈式 DFS 路径搜索</a:t>
            </a:r>
          </a:p>
        </p:txBody>
      </p:sp>
      <p:sp>
        <p:nvSpPr>
          <p:cNvPr id="5" name="">
            <a:extLst>
              <a:ext uri="{FF2B5EF4-FFF2-40B4-BE49-F238E27FC236}">
                <ns2:creationId id="{20D01D0E-25C2-46F5-AFCF-0A3F97F18CA3}"/>
              </a:ext>
            </a:extLst>
          </p:cNvPr>
          <p:cNvSpPr>
            <a:spLocks noGrp="1"/>
          </p:cNvSpPr>
          <p:nvPr/>
        </p:nvSpPr>
        <p:spPr>
          <a:xfrm>
            <a:off x="476250" y="10477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DFS Route 不是保证最短，而是用栈快速找到一条可行路线</a:t>
            </a:r>
          </a:p>
        </p:txBody>
      </p:sp>
      <p:sp>
        <p:nvSpPr>
          <p:cNvPr id="6" name="">
            <a:extLst>
              <a:ext uri="{FF2B5EF4-FFF2-40B4-BE49-F238E27FC236}">
                <ns2:creationId id="{AD8F1057-D21F-4E1F-829C-BD93AADBAE9C}"/>
              </a:ext>
            </a:extLst>
          </p:cNvPr>
          <p:cNvSpPr>
            <a:spLocks noGrp="1"/>
          </p:cNvSpPr>
          <p:nvPr/>
        </p:nvSpPr>
        <p:spPr>
          <a:xfrm>
            <a:off x="11049000" y="30480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>
              <a:ext uri="{FF2B5EF4-FFF2-40B4-BE49-F238E27FC236}">
                <ns2:creationId id="{EB28E1BA-CF64-4413-8B95-C85B2933647E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5450000" cy="3300000"/>
          </a:xfrm>
          <a:prstGeom prst="roundRect">
            <a:avLst>
              <a:gd name="adj" fmla="val 2516"/>
            </a:avLst>
          </a:prstGeom>
          <a:solidFill>
            <a:srgbClr val="111827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B73CAABA-953E-43D7-A1C2-6A9FE7F43487}"/>
              </a:ext>
            </a:extLst>
          </p:cNvPr>
          <p:cNvSpPr>
            <a:spLocks noGrp="1"/>
          </p:cNvSpPr>
          <p:nvPr/>
        </p:nvSpPr>
        <p:spPr>
          <a:xfrm>
            <a:off x="700000" y="1600000"/>
            <a:ext cx="5200000" cy="305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static int searchPathByDFS(CampusGraph* graph, int start, int target, int parent[])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Stack stack;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visited[MAX_NODES];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i;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cur;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order;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resetVisualization();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stack.top = -1;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order = 0;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 = 0; i &lt; graph-&gt;nodeCount; ++i) {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visited[i] = 0;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parent[i] = -1;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push(&amp;stack, start);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visited[start] = 1;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while (!isStackEmpty(&amp;stack)) {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cur = pop(&amp;stack);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if (g_visitOrder[cur] == 0) {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g_visitOrder[cur] = ++order;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if (cur == target) {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return 1;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for (i = graph-&gt;nodeCount - 1; i &gt;= 0; --i) {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if (!visited[i] &amp;&amp; graph-&gt;matrix[cur][i] &gt; 0 &amp;&amp; graph-&gt;matrix[cur][i] &lt; ROAD_BLOCK) {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visited[i] = 1;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parent[i] = cur;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push(&amp;stack, i);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}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720"/>
          </a:p>
          <a:p>
            <a:r>
              <a:rPr sz="72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720"/>
          </a:p>
        </p:txBody>
      </p:sp>
      <p:sp>
        <p:nvSpPr>
          <p:cNvPr id="9" name="">
            <a:extLst>
              <a:ext uri="{FF2B5EF4-FFF2-40B4-BE49-F238E27FC236}">
                <ns2:creationId id="{64721BD2-FB71-45CC-A04B-2DD2FC1BABBE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895350" cy="552450"/>
          </a:xfrm>
          <a:prstGeom prst="roundRect">
            <a:avLst>
              <a:gd name="adj" fmla="val 13793"/>
            </a:avLst>
          </a:prstGeom>
          <a:solidFill>
            <a:srgbClr val="DCEB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E5D62FAE-5BAD-4FE4-9F3C-ECABD126B251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Push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start</a:t>
            </a:r>
          </a:p>
        </p:txBody>
      </p:sp>
      <p:sp>
        <p:nvSpPr>
          <p:cNvPr id="11" name="">
            <a:extLst>
              <a:ext uri="{FF2B5EF4-FFF2-40B4-BE49-F238E27FC236}">
                <ns2:creationId id="{60D6E588-7418-436F-A84C-C8EFD01EAE39}"/>
              </a:ext>
            </a:extLst>
          </p:cNvPr>
          <p:cNvSpPr>
            <a:spLocks noGrp="1"/>
          </p:cNvSpPr>
          <p:nvPr/>
        </p:nvSpPr>
        <p:spPr>
          <a:xfrm>
            <a:off x="7124700" y="1914525"/>
            <a:ext cx="76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>
              <a:ext uri="{FF2B5EF4-FFF2-40B4-BE49-F238E27FC236}">
                <ns2:creationId id="{E6DF45B2-DD6E-48C6-980D-648466C1CADB}"/>
              </a:ext>
            </a:extLst>
          </p:cNvPr>
          <p:cNvSpPr>
            <a:spLocks noGrp="1"/>
          </p:cNvSpPr>
          <p:nvPr/>
        </p:nvSpPr>
        <p:spPr>
          <a:xfrm>
            <a:off x="7239000" y="1809750"/>
            <a:ext cx="895350" cy="552450"/>
          </a:xfrm>
          <a:prstGeom prst="roundRect">
            <a:avLst>
              <a:gd name="adj" fmla="val 13793"/>
            </a:avLst>
          </a:prstGeom>
          <a:solidFill>
            <a:srgbClr val="DDF7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6D2BE8AE-260E-43CF-8784-E5C4E6C30FF9}"/>
              </a:ext>
            </a:extLst>
          </p:cNvPr>
          <p:cNvSpPr>
            <a:spLocks noGrp="1"/>
          </p:cNvSpPr>
          <p:nvPr/>
        </p:nvSpPr>
        <p:spPr>
          <a:xfrm>
            <a:off x="7334250" y="1952625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Pop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top</a:t>
            </a:r>
          </a:p>
        </p:txBody>
      </p:sp>
      <p:sp>
        <p:nvSpPr>
          <p:cNvPr id="14" name="">
            <a:extLst>
              <a:ext uri="{FF2B5EF4-FFF2-40B4-BE49-F238E27FC236}">
                <ns2:creationId id="{5171C33B-E08D-4FB4-999A-E56F0945D781}"/>
              </a:ext>
            </a:extLst>
          </p:cNvPr>
          <p:cNvSpPr>
            <a:spLocks noGrp="1"/>
          </p:cNvSpPr>
          <p:nvPr/>
        </p:nvSpPr>
        <p:spPr>
          <a:xfrm>
            <a:off x="8172450" y="1914525"/>
            <a:ext cx="76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>
              <a:ext uri="{FF2B5EF4-FFF2-40B4-BE49-F238E27FC236}">
                <ns2:creationId id="{A5D511C3-7734-4308-9A1E-EF05A864ABD4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895350" cy="552450"/>
          </a:xfrm>
          <a:prstGeom prst="roundRect">
            <a:avLst>
              <a:gd name="adj" fmla="val 13793"/>
            </a:avLst>
          </a:prstGeom>
          <a:solidFill>
            <a:srgbClr val="DDF8E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71A0C0AD-32EF-4C03-8728-09BBC13703AE}"/>
              </a:ext>
            </a:extLst>
          </p:cNvPr>
          <p:cNvSpPr>
            <a:spLocks noGrp="1"/>
          </p:cNvSpPr>
          <p:nvPr/>
        </p:nvSpPr>
        <p:spPr>
          <a:xfrm>
            <a:off x="8382000" y="1952625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Visit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17" name="">
            <a:extLst>
              <a:ext uri="{FF2B5EF4-FFF2-40B4-BE49-F238E27FC236}">
                <ns2:creationId id="{B6A666CB-E4D9-46DF-AE6C-AE11C2795707}"/>
              </a:ext>
            </a:extLst>
          </p:cNvPr>
          <p:cNvSpPr>
            <a:spLocks noGrp="1"/>
          </p:cNvSpPr>
          <p:nvPr/>
        </p:nvSpPr>
        <p:spPr>
          <a:xfrm>
            <a:off x="9220200" y="1914525"/>
            <a:ext cx="76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>
              <a:ext uri="{FF2B5EF4-FFF2-40B4-BE49-F238E27FC236}">
                <ns2:creationId id="{50A54A7F-AC30-4D1A-B431-B0A1E2AE8BCC}"/>
              </a:ext>
            </a:extLst>
          </p:cNvPr>
          <p:cNvSpPr>
            <a:spLocks noGrp="1"/>
          </p:cNvSpPr>
          <p:nvPr/>
        </p:nvSpPr>
        <p:spPr>
          <a:xfrm>
            <a:off x="9334500" y="1809750"/>
            <a:ext cx="895350" cy="552450"/>
          </a:xfrm>
          <a:prstGeom prst="roundRect">
            <a:avLst>
              <a:gd name="adj" fmla="val 13793"/>
            </a:avLst>
          </a:prstGeom>
          <a:solidFill>
            <a:srgbClr val="FFF3C4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8567D86B-3C6F-4078-B1C6-19BCE3039933}"/>
              </a:ext>
            </a:extLst>
          </p:cNvPr>
          <p:cNvSpPr>
            <a:spLocks noGrp="1"/>
          </p:cNvSpPr>
          <p:nvPr/>
        </p:nvSpPr>
        <p:spPr>
          <a:xfrm>
            <a:off x="9429750" y="1952625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Record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parent</a:t>
            </a:r>
          </a:p>
        </p:txBody>
      </p:sp>
      <p:sp>
        <p:nvSpPr>
          <p:cNvPr id="20" name="">
            <a:extLst>
              <a:ext uri="{FF2B5EF4-FFF2-40B4-BE49-F238E27FC236}">
                <ns2:creationId id="{C42A5AD0-7C39-40C9-A6EA-3CA502FC5788}"/>
              </a:ext>
            </a:extLst>
          </p:cNvPr>
          <p:cNvSpPr>
            <a:spLocks noGrp="1"/>
          </p:cNvSpPr>
          <p:nvPr/>
        </p:nvSpPr>
        <p:spPr>
          <a:xfrm>
            <a:off x="10267950" y="1914525"/>
            <a:ext cx="76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>
              <a:ext uri="{FF2B5EF4-FFF2-40B4-BE49-F238E27FC236}">
                <ns2:creationId id="{B0C44E93-60E0-4772-9E29-E2B8225AA049}"/>
              </a:ext>
            </a:extLst>
          </p:cNvPr>
          <p:cNvSpPr>
            <a:spLocks noGrp="1"/>
          </p:cNvSpPr>
          <p:nvPr/>
        </p:nvSpPr>
        <p:spPr>
          <a:xfrm>
            <a:off x="10382250" y="1809750"/>
            <a:ext cx="895350" cy="552450"/>
          </a:xfrm>
          <a:prstGeom prst="roundRect">
            <a:avLst>
              <a:gd name="adj" fmla="val 13793"/>
            </a:avLst>
          </a:prstGeom>
          <a:solidFill>
            <a:srgbClr val="FFD8A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D8A3ECA8-8519-4226-B212-A5CD0424EAF8}"/>
              </a:ext>
            </a:extLst>
          </p:cNvPr>
          <p:cNvSpPr>
            <a:spLocks noGrp="1"/>
          </p:cNvSpPr>
          <p:nvPr/>
        </p:nvSpPr>
        <p:spPr>
          <a:xfrm>
            <a:off x="10477500" y="1952625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path</a:t>
            </a:r>
          </a:p>
        </p:txBody>
      </p:sp>
      <p:sp>
        <p:nvSpPr>
          <p:cNvPr id="23" name="">
            <a:extLst>
              <a:ext uri="{FF2B5EF4-FFF2-40B4-BE49-F238E27FC236}">
                <ns2:creationId id="{4C7B3F27-9F40-4174-97A4-DBB24D771EF1}"/>
              </a:ext>
            </a:extLst>
          </p:cNvPr>
          <p:cNvSpPr>
            <a:spLocks noGrp="1"/>
          </p:cNvSpPr>
          <p:nvPr/>
        </p:nvSpPr>
        <p:spPr>
          <a:xfrm>
            <a:off x="6553200" y="3143250"/>
            <a:ext cx="38862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105DA534-61CA-4641-BD5E-D62285803522}"/>
              </a:ext>
            </a:extLst>
          </p:cNvPr>
          <p:cNvSpPr>
            <a:spLocks noGrp="1"/>
          </p:cNvSpPr>
          <p:nvPr/>
        </p:nvSpPr>
        <p:spPr>
          <a:xfrm>
            <a:off x="6838950" y="33718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讲解要点</a:t>
            </a:r>
          </a:p>
        </p:txBody>
      </p:sp>
      <p:sp>
        <p:nvSpPr>
          <p:cNvPr id="25" name="">
            <a:extLst>
              <a:ext uri="{FF2B5EF4-FFF2-40B4-BE49-F238E27FC236}">
                <ns2:creationId id="{BC7B625E-B1AB-46EE-852E-642EB7150E6B}"/>
              </a:ext>
            </a:extLst>
          </p:cNvPr>
          <p:cNvSpPr>
            <a:spLocks noGrp="1"/>
          </p:cNvSpPr>
          <p:nvPr/>
        </p:nvSpPr>
        <p:spPr>
          <a:xfrm>
            <a:off x="6838950" y="3810000"/>
            <a:ext cx="3143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栈决定了 DFS 的“深走到底”特征。parent[] 保存每个结点第一次被发现时的前驱，最后从目标点反向回溯出路线。</a:t>
            </a:r>
          </a:p>
        </p:txBody>
      </p:sp>
    </p:spTree>
    <p:extLst>
      <p:ext uri="{BB962C8B-B14F-4D97-AF65-F5344CB8AC3E}">
        <p14:creationId val="175972236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531A765-9C17-4E5C-9924-778B936875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D50478BF-EC09-4051-A763-BF9A607441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FE8B166D-586B-43E4-B0D4-3A079F245E4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第二部分：算法</a:t>
            </a:r>
          </a:p>
        </p:txBody>
      </p:sp>
      <p:sp>
        <p:nvSpPr>
          <p:cNvPr id="4" name="">
            <a:extLst>
              <a:ext uri="{FF2B5EF4-FFF2-40B4-BE49-F238E27FC236}">
                <ns2:creationId id="{B9E6A610-ABC4-4118-BC6A-72511305CD4F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933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BFS Route：队列扩展与双模式选择</a:t>
            </a:r>
          </a:p>
        </p:txBody>
      </p:sp>
      <p:sp>
        <p:nvSpPr>
          <p:cNvPr id="5" name="">
            <a:extLst>
              <a:ext uri="{FF2B5EF4-FFF2-40B4-BE49-F238E27FC236}">
                <ns2:creationId id="{211AE784-FED4-41EA-939E-0070022E7D85}"/>
              </a:ext>
            </a:extLst>
          </p:cNvPr>
          <p:cNvSpPr>
            <a:spLocks noGrp="1"/>
          </p:cNvSpPr>
          <p:nvPr/>
        </p:nvSpPr>
        <p:spPr>
          <a:xfrm>
            <a:off x="476250" y="10477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BFS Route 保留“队列扩展”的思想，同时加入主关键字和次关键字比较</a:t>
            </a:r>
          </a:p>
        </p:txBody>
      </p:sp>
      <p:sp>
        <p:nvSpPr>
          <p:cNvPr id="6" name="">
            <a:extLst>
              <a:ext uri="{FF2B5EF4-FFF2-40B4-BE49-F238E27FC236}">
                <ns2:creationId id="{A70FBDCF-D7A6-422F-A988-A46EB89A8F21}"/>
              </a:ext>
            </a:extLst>
          </p:cNvPr>
          <p:cNvSpPr>
            <a:spLocks noGrp="1"/>
          </p:cNvSpPr>
          <p:nvPr/>
        </p:nvSpPr>
        <p:spPr>
          <a:xfrm>
            <a:off x="11049000" y="30480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>
              <a:ext uri="{FF2B5EF4-FFF2-40B4-BE49-F238E27FC236}">
                <ns2:creationId id="{2E868743-193D-4355-950E-672EAB988293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5810250" cy="3350000"/>
          </a:xfrm>
          <a:prstGeom prst="roundRect">
            <a:avLst>
              <a:gd name="adj" fmla="val 2516"/>
            </a:avLst>
          </a:prstGeom>
          <a:solidFill>
            <a:srgbClr val="111827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1026531-63F7-4094-8BA1-D6F5EFB13A68}"/>
              </a:ext>
            </a:extLst>
          </p:cNvPr>
          <p:cNvSpPr>
            <a:spLocks noGrp="1"/>
          </p:cNvSpPr>
          <p:nvPr/>
        </p:nvSpPr>
        <p:spPr>
          <a:xfrm>
            <a:off x="700000" y="1510000"/>
            <a:ext cx="5520000" cy="312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if (routeMode == ROUTE_MODE_SHORTEST_DISTANCE) {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candPrimary = candDist;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candSecondary = candHops;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bestPrimary = bestDist[j];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bestSecondary = bestHops[j];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}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else {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candPrimary = candHops;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candSecondary = candDist;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bestPrimary = bestHops[j];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bestSecondary = bestDist[j];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}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if (betterRouteCandidate(candPrimary, candSecondary, bestPrimary, bestSecondary)) {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bestHops[j] = candHops;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bestDist[j] = candDist;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parent[j] = cur;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g_bfsLevel[j] = candHops;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if (!inQueue[j] &amp;&amp; rear &lt; MAX_NODES * MAX_NODES) {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queueData[rear++] = j;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inQueue[j] = 1;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}</a:t>
            </a:r>
            <a:endParaRPr lang="en-US" sz="760"/>
          </a:p>
        </p:txBody>
      </p:sp>
      <p:sp>
        <p:nvSpPr>
          <p:cNvPr id="9" name="">
            <a:extLst>
              <a:ext uri="{FF2B5EF4-FFF2-40B4-BE49-F238E27FC236}">
                <ns2:creationId id="{14E9ECE2-0845-499B-AE08-74D0C5EE2C5B}"/>
              </a:ext>
            </a:extLst>
          </p:cNvPr>
          <p:cNvSpPr>
            <a:spLocks noGrp="1"/>
          </p:cNvSpPr>
          <p:nvPr/>
        </p:nvSpPr>
        <p:spPr>
          <a:xfrm>
            <a:off x="6953250" y="1447800"/>
            <a:ext cx="3714750" cy="1219200"/>
          </a:xfrm>
          <a:prstGeom prst="roundRect">
            <a:avLst>
              <a:gd name="adj" fmla="val 6250"/>
            </a:avLst>
          </a:prstGeom>
          <a:solidFill>
            <a:srgbClr val="DCEB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C6FAFD7B-563F-4001-8920-079BB0531AB8}"/>
              </a:ext>
            </a:extLst>
          </p:cNvPr>
          <p:cNvSpPr>
            <a:spLocks noGrp="1"/>
          </p:cNvSpPr>
          <p:nvPr/>
        </p:nvSpPr>
        <p:spPr>
          <a:xfrm>
            <a:off x="7239000" y="16573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75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Fewest Nodes</a:t>
            </a:r>
          </a:p>
        </p:txBody>
      </p:sp>
      <p:sp>
        <p:nvSpPr>
          <p:cNvPr id="11" name="">
            <a:extLst>
              <a:ext uri="{FF2B5EF4-FFF2-40B4-BE49-F238E27FC236}">
                <ns2:creationId id="{86A5A9C7-6659-4DEB-991B-8F568C743F6A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先比较途经节点 / 跳数；若跳数相同，再选总距离更短的路径。</a:t>
            </a:r>
          </a:p>
        </p:txBody>
      </p:sp>
      <p:sp>
        <p:nvSpPr>
          <p:cNvPr id="12" name="">
            <a:extLst>
              <a:ext uri="{FF2B5EF4-FFF2-40B4-BE49-F238E27FC236}">
                <ns2:creationId id="{A2E6ECB5-717C-4634-9182-150287CF573D}"/>
              </a:ext>
            </a:extLst>
          </p:cNvPr>
          <p:cNvSpPr>
            <a:spLocks noGrp="1"/>
          </p:cNvSpPr>
          <p:nvPr/>
        </p:nvSpPr>
        <p:spPr>
          <a:xfrm>
            <a:off x="6953250" y="3009900"/>
            <a:ext cx="3714750" cy="1219200"/>
          </a:xfrm>
          <a:prstGeom prst="roundRect">
            <a:avLst>
              <a:gd name="adj" fmla="val 6250"/>
            </a:avLst>
          </a:prstGeom>
          <a:solidFill>
            <a:srgbClr val="FFD8A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6743C6C6-C29D-4C7E-BA7E-7178F3C52843}"/>
              </a:ext>
            </a:extLst>
          </p:cNvPr>
          <p:cNvSpPr>
            <a:spLocks noGrp="1"/>
          </p:cNvSpPr>
          <p:nvPr/>
        </p:nvSpPr>
        <p:spPr>
          <a:xfrm>
            <a:off x="7239000" y="32194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75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Shortest Distance</a:t>
            </a:r>
          </a:p>
        </p:txBody>
      </p:sp>
      <p:sp>
        <p:nvSpPr>
          <p:cNvPr id="14" name="">
            <a:extLst>
              <a:ext uri="{FF2B5EF4-FFF2-40B4-BE49-F238E27FC236}">
                <ns2:creationId id="{56138614-1A5A-49A7-BA6E-BBF6E2023E5D}"/>
              </a:ext>
            </a:extLst>
          </p:cNvPr>
          <p:cNvSpPr>
            <a:spLocks noGrp="1"/>
          </p:cNvSpPr>
          <p:nvPr/>
        </p:nvSpPr>
        <p:spPr>
          <a:xfrm>
            <a:off x="7239000" y="365760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先比较总距离；若距离相同，再选途经节点更少的路径。</a:t>
            </a:r>
          </a:p>
        </p:txBody>
      </p:sp>
      <p:sp>
        <p:nvSpPr>
          <p:cNvPr id="15" name="">
            <a:extLst>
              <a:ext uri="{FF2B5EF4-FFF2-40B4-BE49-F238E27FC236}">
                <ns2:creationId id="{856CFEBD-94AA-4656-AC50-62556C25D3BE}"/>
              </a:ext>
            </a:extLst>
          </p:cNvPr>
          <p:cNvSpPr>
            <a:spLocks noGrp="1"/>
          </p:cNvSpPr>
          <p:nvPr/>
        </p:nvSpPr>
        <p:spPr>
          <a:xfrm>
            <a:off x="895350" y="5048250"/>
            <a:ext cx="5334000" cy="323850"/>
          </a:xfrm>
          <a:prstGeom prst="roundRect">
            <a:avLst>
              <a:gd name="adj" fmla="val 23529"/>
            </a:avLst>
          </a:prstGeom>
          <a:solidFill>
            <a:srgbClr val="DDF8E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5D081D93-E12E-4F5F-9426-86DF9B3FD623}"/>
              </a:ext>
            </a:extLst>
          </p:cNvPr>
          <p:cNvSpPr>
            <a:spLocks noGrp="1"/>
          </p:cNvSpPr>
          <p:nvPr/>
        </p:nvSpPr>
        <p:spPr>
          <a:xfrm>
            <a:off x="971550" y="5095875"/>
            <a:ext cx="518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g_bfsLevel[] 用于把相同层数的结点染成同色</a:t>
            </a:r>
          </a:p>
        </p:txBody>
      </p:sp>
    </p:spTree>
    <p:extLst>
      <p:ext uri="{BB962C8B-B14F-4D97-AF65-F5344CB8AC3E}">
        <p14:creationId val="670503102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27EE9C37-EC12-4475-92CC-2A2B88F4D9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E9F02F86-6655-4A43-9B0A-C160A8D89D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95E49B85-787E-45FE-B887-17FCD7D4EFBF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第二部分：算法</a:t>
            </a:r>
          </a:p>
        </p:txBody>
      </p:sp>
      <p:sp>
        <p:nvSpPr>
          <p:cNvPr id="4" name="">
            <a:extLst>
              <a:ext uri="{FF2B5EF4-FFF2-40B4-BE49-F238E27FC236}">
                <ns2:creationId id="{0B8A28ED-CBF1-495B-9952-7F6823784D28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933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A* Route：按优先级挑选候选结点</a:t>
            </a:r>
          </a:p>
        </p:txBody>
      </p:sp>
      <p:sp>
        <p:nvSpPr>
          <p:cNvPr id="5" name="">
            <a:extLst>
              <a:ext uri="{FF2B5EF4-FFF2-40B4-BE49-F238E27FC236}">
                <ns2:creationId id="{BF4B3786-00D4-469E-AA32-0B7735F5960F}"/>
              </a:ext>
            </a:extLst>
          </p:cNvPr>
          <p:cNvSpPr>
            <a:spLocks noGrp="1"/>
          </p:cNvSpPr>
          <p:nvPr/>
        </p:nvSpPr>
        <p:spPr>
          <a:xfrm>
            <a:off x="476250" y="10477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当前实现使用 heuristicDistance / heuristicHop 形成 f(n)=g(n)+h(n) 的优先级扩展</a:t>
            </a:r>
          </a:p>
        </p:txBody>
      </p:sp>
      <p:sp>
        <p:nvSpPr>
          <p:cNvPr id="6" name="">
            <a:extLst>
              <a:ext uri="{FF2B5EF4-FFF2-40B4-BE49-F238E27FC236}">
                <ns2:creationId id="{461A9E40-D4D3-47C5-ABEA-8E6FA4A75E36}"/>
              </a:ext>
            </a:extLst>
          </p:cNvPr>
          <p:cNvSpPr>
            <a:spLocks noGrp="1"/>
          </p:cNvSpPr>
          <p:nvPr/>
        </p:nvSpPr>
        <p:spPr>
          <a:xfrm>
            <a:off x="11049000" y="30480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>
              <a:ext uri="{FF2B5EF4-FFF2-40B4-BE49-F238E27FC236}">
                <ns2:creationId id="{EE7A22BE-26AB-4F63-B6D5-C51717DAB4E6}"/>
              </a:ext>
            </a:extLst>
          </p:cNvPr>
          <p:cNvSpPr>
            <a:spLocks noGrp="1"/>
          </p:cNvSpPr>
          <p:nvPr/>
        </p:nvSpPr>
        <p:spPr>
          <a:xfrm>
            <a:off x="590550" y="1447800"/>
            <a:ext cx="5676900" cy="330000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DC51C4F1-9C83-4874-A9C1-B134BE86B44A}"/>
              </a:ext>
            </a:extLst>
          </p:cNvPr>
          <p:cNvSpPr>
            <a:spLocks noGrp="1"/>
          </p:cNvSpPr>
          <p:nvPr/>
        </p:nvSpPr>
        <p:spPr>
          <a:xfrm>
            <a:off x="720000" y="1540000"/>
            <a:ext cx="5400000" cy="305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static int heuristicHop(CampusGraph* graph, int node, int target)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straight;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maxSpan;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straight = nodeStraightDistance(graph, node, target);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(straight &lt;= 0) {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0;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maxSpan = maxRoadCoordinateSpan(graph);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(straight + maxSpan - 1) / maxSpan;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static int heuristicDistance(CampusGraph* graph, int node, int target)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minWeight;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minWeight = minRoadWeight(graph);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(minWeight &lt;= 0) {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0;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heuristicHop(graph, node, target) * minWeight;</a:t>
            </a:r>
            <a:endParaRPr lang="en-US" sz="760"/>
          </a:p>
          <a:p>
            <a:r>
              <a:rPr sz="76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760"/>
          </a:p>
        </p:txBody>
      </p:sp>
      <p:sp>
        <p:nvSpPr>
          <p:cNvPr id="9" name="">
            <a:extLst>
              <a:ext uri="{FF2B5EF4-FFF2-40B4-BE49-F238E27FC236}">
                <ns2:creationId id="{DC3234D7-A37C-4A5A-9E5A-860F192792BE}"/>
              </a:ext>
            </a:extLst>
          </p:cNvPr>
          <p:cNvSpPr>
            <a:spLocks noGrp="1"/>
          </p:cNvSpPr>
          <p:nvPr/>
        </p:nvSpPr>
        <p:spPr>
          <a:xfrm>
            <a:off x="6591300" y="1733550"/>
            <a:ext cx="838200" cy="552450"/>
          </a:xfrm>
          <a:prstGeom prst="roundRect">
            <a:avLst>
              <a:gd name="adj" fmla="val 13793"/>
            </a:avLst>
          </a:prstGeom>
          <a:solidFill>
            <a:srgbClr val="E9DD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31F5327A-D312-46A7-807D-194AB3698F27}"/>
              </a:ext>
            </a:extLst>
          </p:cNvPr>
          <p:cNvSpPr>
            <a:spLocks noGrp="1"/>
          </p:cNvSpPr>
          <p:nvPr/>
        </p:nvSpPr>
        <p:spPr>
          <a:xfrm>
            <a:off x="6686550" y="1876425"/>
            <a:ext cx="647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候选集合</a:t>
            </a:r>
          </a:p>
        </p:txBody>
      </p:sp>
      <p:sp>
        <p:nvSpPr>
          <p:cNvPr id="11" name="">
            <a:extLst>
              <a:ext uri="{FF2B5EF4-FFF2-40B4-BE49-F238E27FC236}">
                <ns2:creationId id="{DB7132CA-90D4-41AE-84E3-B281D962171B}"/>
              </a:ext>
            </a:extLst>
          </p:cNvPr>
          <p:cNvSpPr>
            <a:spLocks noGrp="1"/>
          </p:cNvSpPr>
          <p:nvPr/>
        </p:nvSpPr>
        <p:spPr>
          <a:xfrm>
            <a:off x="7467600" y="1838325"/>
            <a:ext cx="57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>
              <a:ext uri="{FF2B5EF4-FFF2-40B4-BE49-F238E27FC236}">
                <ns2:creationId id="{32432129-E22D-4A97-B1E2-19C7EF46FACE}"/>
              </a:ext>
            </a:extLst>
          </p:cNvPr>
          <p:cNvSpPr>
            <a:spLocks noGrp="1"/>
          </p:cNvSpPr>
          <p:nvPr/>
        </p:nvSpPr>
        <p:spPr>
          <a:xfrm>
            <a:off x="7562850" y="1733550"/>
            <a:ext cx="838200" cy="552450"/>
          </a:xfrm>
          <a:prstGeom prst="roundRect">
            <a:avLst>
              <a:gd name="adj" fmla="val 13793"/>
            </a:avLst>
          </a:prstGeom>
          <a:solidFill>
            <a:srgbClr val="DCEB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E387E668-2449-4739-9DDD-D38AFBE39BD1}"/>
              </a:ext>
            </a:extLst>
          </p:cNvPr>
          <p:cNvSpPr>
            <a:spLocks noGrp="1"/>
          </p:cNvSpPr>
          <p:nvPr/>
        </p:nvSpPr>
        <p:spPr>
          <a:xfrm>
            <a:off x="7658100" y="1876425"/>
            <a:ext cx="647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选择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cur</a:t>
            </a:r>
          </a:p>
        </p:txBody>
      </p:sp>
      <p:sp>
        <p:nvSpPr>
          <p:cNvPr id="14" name="">
            <a:extLst>
              <a:ext uri="{FF2B5EF4-FFF2-40B4-BE49-F238E27FC236}">
                <ns2:creationId id="{3C280256-3794-465A-89D7-FE961BD25167}"/>
              </a:ext>
            </a:extLst>
          </p:cNvPr>
          <p:cNvSpPr>
            <a:spLocks noGrp="1"/>
          </p:cNvSpPr>
          <p:nvPr/>
        </p:nvSpPr>
        <p:spPr>
          <a:xfrm>
            <a:off x="8439150" y="1838325"/>
            <a:ext cx="57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>
              <a:ext uri="{FF2B5EF4-FFF2-40B4-BE49-F238E27FC236}">
                <ns2:creationId id="{E533607E-0A8C-4EF8-8913-AEFF7CA489FB}"/>
              </a:ext>
            </a:extLst>
          </p:cNvPr>
          <p:cNvSpPr>
            <a:spLocks noGrp="1"/>
          </p:cNvSpPr>
          <p:nvPr/>
        </p:nvSpPr>
        <p:spPr>
          <a:xfrm>
            <a:off x="8534400" y="1733550"/>
            <a:ext cx="838200" cy="552450"/>
          </a:xfrm>
          <a:prstGeom prst="roundRect">
            <a:avLst>
              <a:gd name="adj" fmla="val 13793"/>
            </a:avLst>
          </a:prstGeom>
          <a:solidFill>
            <a:srgbClr val="DDF8E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CE0FA136-C9B2-4038-9104-182C99CEB691}"/>
              </a:ext>
            </a:extLst>
          </p:cNvPr>
          <p:cNvSpPr>
            <a:spLocks noGrp="1"/>
          </p:cNvSpPr>
          <p:nvPr/>
        </p:nvSpPr>
        <p:spPr>
          <a:xfrm>
            <a:off x="8629650" y="1876425"/>
            <a:ext cx="647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标记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used</a:t>
            </a:r>
          </a:p>
        </p:txBody>
      </p:sp>
      <p:sp>
        <p:nvSpPr>
          <p:cNvPr id="17" name="">
            <a:extLst>
              <a:ext uri="{FF2B5EF4-FFF2-40B4-BE49-F238E27FC236}">
                <ns2:creationId id="{D562F3D3-6BBB-4A46-B848-623502833C8D}"/>
              </a:ext>
            </a:extLst>
          </p:cNvPr>
          <p:cNvSpPr>
            <a:spLocks noGrp="1"/>
          </p:cNvSpPr>
          <p:nvPr/>
        </p:nvSpPr>
        <p:spPr>
          <a:xfrm>
            <a:off x="9410700" y="1838325"/>
            <a:ext cx="57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>
              <a:ext uri="{FF2B5EF4-FFF2-40B4-BE49-F238E27FC236}">
                <ns2:creationId id="{4DE5EEA7-9909-400A-BA13-CD3AA83948D9}"/>
              </a:ext>
            </a:extLst>
          </p:cNvPr>
          <p:cNvSpPr>
            <a:spLocks noGrp="1"/>
          </p:cNvSpPr>
          <p:nvPr/>
        </p:nvSpPr>
        <p:spPr>
          <a:xfrm>
            <a:off x="9505950" y="1733550"/>
            <a:ext cx="838200" cy="552450"/>
          </a:xfrm>
          <a:prstGeom prst="roundRect">
            <a:avLst>
              <a:gd name="adj" fmla="val 13793"/>
            </a:avLst>
          </a:prstGeom>
          <a:solidFill>
            <a:srgbClr val="FFF3C4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589F3D57-CB49-42F4-BFF7-905B5C8CEE58}"/>
              </a:ext>
            </a:extLst>
          </p:cNvPr>
          <p:cNvSpPr>
            <a:spLocks noGrp="1"/>
          </p:cNvSpPr>
          <p:nvPr/>
        </p:nvSpPr>
        <p:spPr>
          <a:xfrm>
            <a:off x="9601200" y="1876425"/>
            <a:ext cx="647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松弛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邻边</a:t>
            </a:r>
          </a:p>
        </p:txBody>
      </p:sp>
      <p:sp>
        <p:nvSpPr>
          <p:cNvPr id="20" name="">
            <a:extLst>
              <a:ext uri="{FF2B5EF4-FFF2-40B4-BE49-F238E27FC236}">
                <ns2:creationId id="{D8C022C8-DEB8-46EE-9D6F-0FCEC6CEE9A1}"/>
              </a:ext>
            </a:extLst>
          </p:cNvPr>
          <p:cNvSpPr>
            <a:spLocks noGrp="1"/>
          </p:cNvSpPr>
          <p:nvPr/>
        </p:nvSpPr>
        <p:spPr>
          <a:xfrm>
            <a:off x="10382250" y="1838325"/>
            <a:ext cx="57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>
              <a:ext uri="{FF2B5EF4-FFF2-40B4-BE49-F238E27FC236}">
                <ns2:creationId id="{258440F8-8E05-407A-B2B9-6760DB66D4FF}"/>
              </a:ext>
            </a:extLst>
          </p:cNvPr>
          <p:cNvSpPr>
            <a:spLocks noGrp="1"/>
          </p:cNvSpPr>
          <p:nvPr/>
        </p:nvSpPr>
        <p:spPr>
          <a:xfrm>
            <a:off x="10477500" y="1733550"/>
            <a:ext cx="838200" cy="552450"/>
          </a:xfrm>
          <a:prstGeom prst="roundRect">
            <a:avLst>
              <a:gd name="adj" fmla="val 13793"/>
            </a:avLst>
          </a:prstGeom>
          <a:solidFill>
            <a:srgbClr val="FFD8A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0229E664-BA22-429B-B61B-BF0DB331A158}"/>
              </a:ext>
            </a:extLst>
          </p:cNvPr>
          <p:cNvSpPr>
            <a:spLocks noGrp="1"/>
          </p:cNvSpPr>
          <p:nvPr/>
        </p:nvSpPr>
        <p:spPr>
          <a:xfrm>
            <a:off x="10572750" y="1876425"/>
            <a:ext cx="647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更新</a:t>
            </a:r>
          </a:p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parent</a:t>
            </a:r>
          </a:p>
        </p:txBody>
      </p:sp>
      <p:sp>
        <p:nvSpPr>
          <p:cNvPr id="23" name="">
            <a:extLst>
              <a:ext uri="{FF2B5EF4-FFF2-40B4-BE49-F238E27FC236}">
                <ns2:creationId id="{414FA759-6B83-4D9D-8038-8A7CC1093CBA}"/>
              </a:ext>
            </a:extLst>
          </p:cNvPr>
          <p:cNvSpPr>
            <a:spLocks noGrp="1"/>
          </p:cNvSpPr>
          <p:nvPr/>
        </p:nvSpPr>
        <p:spPr>
          <a:xfrm>
            <a:off x="6800850" y="3238500"/>
            <a:ext cx="37147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A65A9678-7287-4B7C-910B-BAB8872A7B38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讲解要点</a:t>
            </a:r>
          </a:p>
        </p:txBody>
      </p:sp>
      <p:sp>
        <p:nvSpPr>
          <p:cNvPr id="25" name="">
            <a:extLst>
              <a:ext uri="{FF2B5EF4-FFF2-40B4-BE49-F238E27FC236}">
                <ns2:creationId id="{66F9FC7C-ABA9-4B4C-8C40-2DD2F075CA57}"/>
              </a:ext>
            </a:extLst>
          </p:cNvPr>
          <p:cNvSpPr>
            <a:spLocks noGrp="1"/>
          </p:cNvSpPr>
          <p:nvPr/>
        </p:nvSpPr>
        <p:spPr>
          <a:xfrm>
            <a:off x="7105650" y="3905250"/>
            <a:ext cx="29908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A* 模式通过主/次关键字挑选当前最优候选点。距离优先时接近 Dijkstra；节点优先时更像带权 tie-break 的层次搜索。</a:t>
            </a:r>
          </a:p>
        </p:txBody>
      </p:sp>
    </p:spTree>
    <p:extLst>
      <p:ext uri="{BB962C8B-B14F-4D97-AF65-F5344CB8AC3E}">
        <p14:creationId val="1090392863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1012D36F-6B3C-43F3-80E9-B37401D14B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AED9BDA-D0F2-4FD6-9A35-D02D1231F7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5C85769A-11AD-4FA5-8568-5CAB44999B0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第二部分：算法</a:t>
            </a:r>
          </a:p>
        </p:txBody>
      </p:sp>
      <p:sp>
        <p:nvSpPr>
          <p:cNvPr id="4" name="">
            <a:extLst>
              <a:ext uri="{FF2B5EF4-FFF2-40B4-BE49-F238E27FC236}">
                <ns2:creationId id="{F6BDA8AA-0137-449C-B91C-B7417E47A0B8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933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Road Change 与重规划</a:t>
            </a:r>
          </a:p>
        </p:txBody>
      </p:sp>
      <p:sp>
        <p:nvSpPr>
          <p:cNvPr id="5" name="">
            <a:extLst>
              <a:ext uri="{FF2B5EF4-FFF2-40B4-BE49-F238E27FC236}">
                <ns2:creationId id="{26FD27CA-78A4-4000-982B-3DC63154BF2D}"/>
              </a:ext>
            </a:extLst>
          </p:cNvPr>
          <p:cNvSpPr>
            <a:spLocks noGrp="1"/>
          </p:cNvSpPr>
          <p:nvPr/>
        </p:nvSpPr>
        <p:spPr>
          <a:xfrm>
            <a:off x="476250" y="10477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道路新增和道路阻断都先进入修改列表，再统一叠加到当前图</a:t>
            </a:r>
          </a:p>
        </p:txBody>
      </p:sp>
      <p:sp>
        <p:nvSpPr>
          <p:cNvPr id="6" name="">
            <a:extLst>
              <a:ext uri="{FF2B5EF4-FFF2-40B4-BE49-F238E27FC236}">
                <ns2:creationId id="{B9CC327A-00AF-42BA-A201-EEC6594DACF9}"/>
              </a:ext>
            </a:extLst>
          </p:cNvPr>
          <p:cNvSpPr>
            <a:spLocks noGrp="1"/>
          </p:cNvSpPr>
          <p:nvPr/>
        </p:nvSpPr>
        <p:spPr>
          <a:xfrm>
            <a:off x="11049000" y="30480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>
              <a:ext uri="{FF2B5EF4-FFF2-40B4-BE49-F238E27FC236}">
                <ns2:creationId id="{BF8966FC-58A5-48A7-A20E-4E5AB3F8AC4C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143500" cy="330000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2328760C-4F1B-4F5B-B4E4-0EE4ED7D718F}"/>
              </a:ext>
            </a:extLst>
          </p:cNvPr>
          <p:cNvSpPr>
            <a:spLocks noGrp="1"/>
          </p:cNvSpPr>
          <p:nvPr/>
        </p:nvSpPr>
        <p:spPr>
          <a:xfrm>
            <a:off x="724000" y="1530000"/>
            <a:ext cx="4940000" cy="305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static void applyRoadChangesToGraph(CampusGraph* graph)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i;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j;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a;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b;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value;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 = 0; i &lt; MAX_NODES; ++i) 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for (j = 0; j &lt; MAX_NODES; ++j) 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graph-&gt;matrix[i][j] = g_baseMatrix[i][j];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 = 0; i &lt; g_roadChangeCount; ++i) 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a = g_roadChanges[i].from;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b = g_roadChanges[i].to;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if (a &lt; 0 || b &lt; 0 || a &gt;= graph-&gt;nodeCount || b &gt;= graph-&gt;nodeCount || a == b) {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continue;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value = g_roadChanges[i].distance;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graph-&gt;matrix[a][b] = value;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graph-&gt;matrix[b][a] = value;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780"/>
          </a:p>
          <a:p>
            <a:r>
              <a:rPr sz="78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780"/>
          </a:p>
        </p:txBody>
      </p:sp>
      <p:sp>
        <p:nvSpPr>
          <p:cNvPr id="9" name="">
            <a:extLst>
              <a:ext uri="{FF2B5EF4-FFF2-40B4-BE49-F238E27FC236}">
                <ns2:creationId id="{47BF4422-0018-430B-AEA5-758B2DD2BB70}"/>
              </a:ext>
            </a:extLst>
          </p:cNvPr>
          <p:cNvSpPr>
            <a:spLocks noGrp="1"/>
          </p:cNvSpPr>
          <p:nvPr/>
        </p:nvSpPr>
        <p:spPr>
          <a:xfrm>
            <a:off x="6419850" y="1428750"/>
            <a:ext cx="41910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B5DFDA81-818A-455E-BCD2-77E772E89E2A}"/>
              </a:ext>
            </a:extLst>
          </p:cNvPr>
          <p:cNvSpPr>
            <a:spLocks noGrp="1"/>
          </p:cNvSpPr>
          <p:nvPr/>
        </p:nvSpPr>
        <p:spPr>
          <a:xfrm>
            <a:off x="6705600" y="1657350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Road Adding / Road Block</a:t>
            </a:r>
          </a:p>
        </p:txBody>
      </p:sp>
      <p:sp>
        <p:nvSpPr>
          <p:cNvPr id="11" name="">
            <a:extLst>
              <a:ext uri="{FF2B5EF4-FFF2-40B4-BE49-F238E27FC236}">
                <ns2:creationId id="{2666C8C2-C5B0-4D17-A3BA-85252A53F43A}"/>
              </a:ext>
            </a:extLst>
          </p:cNvPr>
          <p:cNvSpPr>
            <a:spLocks noGrp="1"/>
          </p:cNvSpPr>
          <p:nvPr/>
        </p:nvSpPr>
        <p:spPr>
          <a:xfrm>
            <a:off x="6724650" y="2247900"/>
            <a:ext cx="114300" cy="114300"/>
          </a:xfrm>
          <a:prstGeom prst="ellipse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29229F02-561D-4558-ABAC-BEDC606190BA}"/>
              </a:ext>
            </a:extLst>
          </p:cNvPr>
          <p:cNvSpPr>
            <a:spLocks noGrp="1"/>
          </p:cNvSpPr>
          <p:nvPr/>
        </p:nvSpPr>
        <p:spPr>
          <a:xfrm>
            <a:off x="6972300" y="2152650"/>
            <a:ext cx="3086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Road Adding：指定 from、to、distance，加入或改写边权</a:t>
            </a:r>
          </a:p>
        </p:txBody>
      </p:sp>
      <p:sp>
        <p:nvSpPr>
          <p:cNvPr id="13" name="">
            <a:extLst>
              <a:ext uri="{FF2B5EF4-FFF2-40B4-BE49-F238E27FC236}">
                <ns2:creationId id="{4759CB76-1F97-45AF-8C13-D374010306C4}"/>
              </a:ext>
            </a:extLst>
          </p:cNvPr>
          <p:cNvSpPr>
            <a:spLocks noGrp="1"/>
          </p:cNvSpPr>
          <p:nvPr/>
        </p:nvSpPr>
        <p:spPr>
          <a:xfrm>
            <a:off x="6724650" y="2647950"/>
            <a:ext cx="114300" cy="114300"/>
          </a:xfrm>
          <a:prstGeom prst="ellipse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5DC2CE51-AA3B-4E1C-91B8-F23DB586E60D}"/>
              </a:ext>
            </a:extLst>
          </p:cNvPr>
          <p:cNvSpPr>
            <a:spLocks noGrp="1"/>
          </p:cNvSpPr>
          <p:nvPr/>
        </p:nvSpPr>
        <p:spPr>
          <a:xfrm>
            <a:off x="6972300" y="2552700"/>
            <a:ext cx="3086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Road Block：把边权设置成很大值，模拟施工绕行</a:t>
            </a:r>
          </a:p>
        </p:txBody>
      </p:sp>
      <p:sp>
        <p:nvSpPr>
          <p:cNvPr id="15" name="">
            <a:extLst>
              <a:ext uri="{FF2B5EF4-FFF2-40B4-BE49-F238E27FC236}">
                <ns2:creationId id="{F1AE44D4-A86C-465D-A3AE-E1441E069ECF}"/>
              </a:ext>
            </a:extLst>
          </p:cNvPr>
          <p:cNvSpPr>
            <a:spLocks noGrp="1"/>
          </p:cNvSpPr>
          <p:nvPr/>
        </p:nvSpPr>
        <p:spPr>
          <a:xfrm>
            <a:off x="6724650" y="3048000"/>
            <a:ext cx="114300" cy="114300"/>
          </a:xfrm>
          <a:prstGeom prst="ellipse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64ADB8D6-550A-4BCE-81BB-20027D069AF1}"/>
              </a:ext>
            </a:extLst>
          </p:cNvPr>
          <p:cNvSpPr>
            <a:spLocks noGrp="1"/>
          </p:cNvSpPr>
          <p:nvPr/>
        </p:nvSpPr>
        <p:spPr>
          <a:xfrm>
            <a:off x="6972300" y="2952750"/>
            <a:ext cx="3086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19050" bIns="19050" anchor="t"/>
          <a:lstStyle/>
          <a:p>
            <a:pPr algn="l">
              <a:def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减号按钮：删除某条修改记录，然后重新应用矩阵</a:t>
            </a:r>
          </a:p>
        </p:txBody>
      </p:sp>
      <p:sp>
        <p:nvSpPr>
          <p:cNvPr id="17" name="">
            <a:extLst>
              <a:ext uri="{FF2B5EF4-FFF2-40B4-BE49-F238E27FC236}">
                <ns2:creationId id="{B8C813CD-6134-4931-A71D-96422A9606AE}"/>
              </a:ext>
            </a:extLst>
          </p:cNvPr>
          <p:cNvSpPr>
            <a:spLocks noGrp="1"/>
          </p:cNvSpPr>
          <p:nvPr/>
        </p:nvSpPr>
        <p:spPr>
          <a:xfrm>
            <a:off x="1466850" y="535580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FF3C4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137FA8A4-97FA-493A-9FCF-FC25614BC87A}"/>
              </a:ext>
            </a:extLst>
          </p:cNvPr>
          <p:cNvSpPr>
            <a:spLocks noGrp="1"/>
          </p:cNvSpPr>
          <p:nvPr/>
        </p:nvSpPr>
        <p:spPr>
          <a:xfrm>
            <a:off x="1562100" y="5498675"/>
            <a:ext cx="1238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改路</a:t>
            </a:r>
          </a:p>
        </p:txBody>
      </p:sp>
      <p:sp>
        <p:nvSpPr>
          <p:cNvPr id="19" name="">
            <a:extLst>
              <a:ext uri="{FF2B5EF4-FFF2-40B4-BE49-F238E27FC236}">
                <ns2:creationId id="{FA34FF3B-3F79-49C8-94F3-CDE314AAC36C}"/>
              </a:ext>
            </a:extLst>
          </p:cNvPr>
          <p:cNvSpPr>
            <a:spLocks noGrp="1"/>
          </p:cNvSpPr>
          <p:nvPr/>
        </p:nvSpPr>
        <p:spPr>
          <a:xfrm>
            <a:off x="2933700" y="5489150"/>
            <a:ext cx="209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>
              <a:ext uri="{FF2B5EF4-FFF2-40B4-BE49-F238E27FC236}">
                <ns2:creationId id="{20348E62-6260-4153-A2E3-F3F671A5B414}"/>
              </a:ext>
            </a:extLst>
          </p:cNvPr>
          <p:cNvSpPr>
            <a:spLocks noGrp="1"/>
          </p:cNvSpPr>
          <p:nvPr/>
        </p:nvSpPr>
        <p:spPr>
          <a:xfrm>
            <a:off x="3181350" y="535580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DDF8E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111F64DE-02E7-4C7B-AE1E-4E01862A1FF4}"/>
              </a:ext>
            </a:extLst>
          </p:cNvPr>
          <p:cNvSpPr>
            <a:spLocks noGrp="1"/>
          </p:cNvSpPr>
          <p:nvPr/>
        </p:nvSpPr>
        <p:spPr>
          <a:xfrm>
            <a:off x="3276600" y="5498675"/>
            <a:ext cx="1238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重建矩阵</a:t>
            </a:r>
          </a:p>
        </p:txBody>
      </p:sp>
      <p:sp>
        <p:nvSpPr>
          <p:cNvPr id="22" name="">
            <a:extLst>
              <a:ext uri="{FF2B5EF4-FFF2-40B4-BE49-F238E27FC236}">
                <ns2:creationId id="{64B6D9D3-D326-4976-BF9A-840DB1CCB1A7}"/>
              </a:ext>
            </a:extLst>
          </p:cNvPr>
          <p:cNvSpPr>
            <a:spLocks noGrp="1"/>
          </p:cNvSpPr>
          <p:nvPr/>
        </p:nvSpPr>
        <p:spPr>
          <a:xfrm>
            <a:off x="4648200" y="5489150"/>
            <a:ext cx="209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>
              <a:ext uri="{FF2B5EF4-FFF2-40B4-BE49-F238E27FC236}">
                <ns2:creationId id="{84177042-324A-40BF-926D-3A266655670C}"/>
              </a:ext>
            </a:extLst>
          </p:cNvPr>
          <p:cNvSpPr>
            <a:spLocks noGrp="1"/>
          </p:cNvSpPr>
          <p:nvPr/>
        </p:nvSpPr>
        <p:spPr>
          <a:xfrm>
            <a:off x="4895850" y="535580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DCEBFF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746A314B-E9BF-4B41-A02F-73428B57F05B}"/>
              </a:ext>
            </a:extLst>
          </p:cNvPr>
          <p:cNvSpPr>
            <a:spLocks noGrp="1"/>
          </p:cNvSpPr>
          <p:nvPr/>
        </p:nvSpPr>
        <p:spPr>
          <a:xfrm>
            <a:off x="4991100" y="5498675"/>
            <a:ext cx="1238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重新 BFS/A*</a:t>
            </a:r>
          </a:p>
        </p:txBody>
      </p:sp>
      <p:sp>
        <p:nvSpPr>
          <p:cNvPr id="25" name="">
            <a:extLst>
              <a:ext uri="{FF2B5EF4-FFF2-40B4-BE49-F238E27FC236}">
                <ns2:creationId id="{EAFFC563-FCEC-4791-9EB6-388C2CC510BE}"/>
              </a:ext>
            </a:extLst>
          </p:cNvPr>
          <p:cNvSpPr>
            <a:spLocks noGrp="1"/>
          </p:cNvSpPr>
          <p:nvPr/>
        </p:nvSpPr>
        <p:spPr>
          <a:xfrm>
            <a:off x="6362700" y="5489150"/>
            <a:ext cx="209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>
              <a:ext uri="{FF2B5EF4-FFF2-40B4-BE49-F238E27FC236}">
                <ns2:creationId id="{4682B06F-B6EF-4BE4-84A6-E935FB3E9C45}"/>
              </a:ext>
            </a:extLst>
          </p:cNvPr>
          <p:cNvSpPr>
            <a:spLocks noGrp="1"/>
          </p:cNvSpPr>
          <p:nvPr/>
        </p:nvSpPr>
        <p:spPr>
          <a:xfrm>
            <a:off x="6610350" y="535580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FD8A8"/>
          </a:solidFill>
          <a:ln w="9525">
            <a:solidFill>
              <a:srgbClr val="B7C7D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54F98A4E-892E-4999-8B62-FFFC9101B61A}"/>
              </a:ext>
            </a:extLst>
          </p:cNvPr>
          <p:cNvSpPr>
            <a:spLocks noGrp="1"/>
          </p:cNvSpPr>
          <p:nvPr/>
        </p:nvSpPr>
        <p:spPr>
          <a:xfrm>
            <a:off x="6705600" y="5498675"/>
            <a:ext cx="1238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0" rIns="19050" bIns="0" anchor="t"/>
          <a:lstStyle/>
          <a:p>
            <a:pPr algn="ctr">
              <a:def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输出替代路线</a:t>
            </a:r>
          </a:p>
        </p:txBody>
      </p:sp>
    </p:spTree>
    <p:extLst>
      <p:ext uri="{BB962C8B-B14F-4D97-AF65-F5344CB8AC3E}">
        <p14:creationId val="3936224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D5B64D-BABB-4344-83B5-F362ACA4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E4EAE-DE06-4528-BC0A-72527A97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66699-84D3-4772-BA7D-CC1B4983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7C543-BE93-4B28-AF15-84D08CD1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复杂度与课程设计价值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21AA9-C0C1-4C47-A961-74581F41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这个项目把图结构、搜索策略、动态权值和 Win32 可视化串成一个完整系统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FC38E-3A4E-4F2E-B553-0E1934A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A85BC-FEA8-427E-8686-9524907B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2F6F3-C8B7-416C-B8A7-433C549C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D084B-BEA0-4C0C-806D-EE1E4AAD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E4613-7151-4460-A2CF-EB3D7B21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邻接矩阵：O(n²) 空间，查边 O(1)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09333-F79D-48E7-B61A-FB6D023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78959-F5F2-45EC-A2EE-64552F61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栈：支持 DFS 可行路径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14E9D-110F-437E-84D6-8092A98D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8155F-9963-44DD-9CBB-A36C4BDE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6705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队列：支持 BFS 层次扩展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42C78-B3F8-452A-8865-E174AA75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4A86E-7FA8-4D6B-B1AE-163A43AB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parent[]：统一路径回溯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BADAD-A624-4084-833F-047EBFCE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D8A8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EBB44-CED2-4C2E-B1EC-AE0CDE93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算法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9F0E7-C3E2-4005-A9C8-DDBCE4C9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51E45-DFFD-438E-8C9C-AA7E0FC4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DFS：连通性与可行路径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D175F-AE3E-46D2-8ADD-16FF43FA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15CFE-3420-4429-AD4F-82FEA57A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051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BFS：节点最少路线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78AC9-0961-4E77-B7D1-8872534A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FAF82-3901-4128-BBD6-E7C89BD7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6705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A*：优先级候选扩展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D7142-25E3-4BB9-943B-D7667A97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D1546-5492-4DAC-B10F-A25B6394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290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Road Change：动态重规划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D444F7-47EA-4C54-8D2B-A9867890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24000"/>
            <a:ext cx="2857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DF8E8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312AF8-7217-403D-A558-31EAF9CD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复杂度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69CC61-09E1-48AC-A841-40C12B95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邻接矩阵版本遍历邻边通常需要扫描整行，因此 DFS / BFS / A* 在本项目规模下约为 O(n²)。由于 n≤15，重点更适合放在结构清晰和过程可视化上。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83CC98-E3AC-477F-A726-B000D233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DDFF"/>
          </a:solidFill>
          <a:ln xmlns:a="http://schemas.openxmlformats.org/drawingml/2006/main" w="9525">
            <a:solidFill>
              <a:srgbClr val="B7C7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37B643-C3E2-4D67-8199-318333F9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842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讲解主线：先看数据怎么存，再看算法怎么跑，最后看结果怎么展示</a:t>
            </a:r>
          </a:p>
        </p:txBody>
      </p:sp>
    </p:spTree>
    <p:extLst>
      <p:ext uri="{BB962C8B-B14F-4D97-AF65-F5344CB8AC3E}">
        <p14:creationId xmlns:p14="http://schemas.microsoft.com/office/powerpoint/2010/main" val="328785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2026-05-07T09:27:42.2380000Z</dcterms:created>
  <dcterms:modified xsi:type="dcterms:W3CDTF">2026-05-07T09:27:42.2380000Z</dcterms:modified>
</coreProperties>
</file>